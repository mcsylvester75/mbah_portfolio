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22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5128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5.png"/><Relationship Id="rId4" Type="http://schemas.openxmlformats.org/officeDocument/2006/relationships/image" Target="../media/image13.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227"/>
          </a:solidFill>
          <a:ln/>
        </p:spPr>
      </p:sp>
      <p:sp>
        <p:nvSpPr>
          <p:cNvPr id="3" name="Text 1"/>
          <p:cNvSpPr/>
          <p:nvPr/>
        </p:nvSpPr>
        <p:spPr>
          <a:xfrm>
            <a:off x="548640" y="1371600"/>
            <a:ext cx="8046720" cy="1280160"/>
          </a:xfrm>
          <a:prstGeom prst="rect">
            <a:avLst/>
          </a:prstGeom>
          <a:noFill/>
          <a:ln/>
        </p:spPr>
        <p:txBody>
          <a:bodyPr wrap="square" lIns="0" tIns="0" rIns="0" bIns="0"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SPIRITUAL PROGRESSION &amp;</a:t>
            </a:r>
            <a:endParaRPr lang="en-US" sz="2800" dirty="0"/>
          </a:p>
          <a:p>
            <a:pPr marL="0" indent="0" algn="ctr">
              <a:buNone/>
            </a:pPr>
            <a:r>
              <a:rPr lang="en-US" sz="2800" b="1" dirty="0">
                <a:solidFill>
                  <a:srgbClr val="FFFFFF"/>
                </a:solidFill>
                <a:latin typeface="Arial" pitchFamily="34" charset="0"/>
                <a:ea typeface="Arial" pitchFamily="34" charset="-122"/>
                <a:cs typeface="Arial" pitchFamily="34" charset="-120"/>
              </a:rPr>
              <a:t>PROFESSIONAL GROWTH PORTFOLIO</a:t>
            </a:r>
            <a:endParaRPr lang="en-US" sz="2800" dirty="0"/>
          </a:p>
        </p:txBody>
      </p:sp>
      <p:sp>
        <p:nvSpPr>
          <p:cNvPr id="4" name="Text 2"/>
          <p:cNvSpPr/>
          <p:nvPr/>
        </p:nvSpPr>
        <p:spPr>
          <a:xfrm>
            <a:off x="914400" y="2743200"/>
            <a:ext cx="7315200" cy="411480"/>
          </a:xfrm>
          <a:prstGeom prst="rect">
            <a:avLst/>
          </a:prstGeom>
          <a:noFill/>
          <a:ln/>
        </p:spPr>
        <p:txBody>
          <a:bodyPr wrap="square" lIns="0" tIns="0" rIns="0" bIns="0" rtlCol="0" anchor="ctr"/>
          <a:lstStyle/>
          <a:p>
            <a:pPr marL="0" indent="0" algn="ctr">
              <a:buNone/>
            </a:pPr>
            <a:r>
              <a:rPr lang="en-US" sz="1600" i="1" dirty="0">
                <a:solidFill>
                  <a:srgbClr val="C9A227"/>
                </a:solidFill>
                <a:latin typeface="Georgia" pitchFamily="34" charset="0"/>
                <a:ea typeface="Georgia" pitchFamily="34" charset="-122"/>
                <a:cs typeface="Georgia" pitchFamily="34" charset="-120"/>
              </a:rPr>
              <a:t>Becoming a Capable and Trusted Disciple in My Profession</a:t>
            </a:r>
            <a:endParaRPr lang="en-US" sz="1600" dirty="0"/>
          </a:p>
        </p:txBody>
      </p:sp>
      <p:sp>
        <p:nvSpPr>
          <p:cNvPr id="5" name="Shape 3"/>
          <p:cNvSpPr/>
          <p:nvPr/>
        </p:nvSpPr>
        <p:spPr>
          <a:xfrm>
            <a:off x="3200400" y="3291840"/>
            <a:ext cx="2743200" cy="13716"/>
          </a:xfrm>
          <a:prstGeom prst="rect">
            <a:avLst/>
          </a:prstGeom>
          <a:solidFill>
            <a:srgbClr val="4A90C2"/>
          </a:solidFill>
          <a:ln/>
        </p:spPr>
      </p:sp>
      <p:sp>
        <p:nvSpPr>
          <p:cNvPr id="6" name="Text 4"/>
          <p:cNvSpPr/>
          <p:nvPr/>
        </p:nvSpPr>
        <p:spPr>
          <a:xfrm>
            <a:off x="457200" y="3657600"/>
            <a:ext cx="8229600" cy="320040"/>
          </a:xfrm>
          <a:prstGeom prst="rect">
            <a:avLst/>
          </a:prstGeom>
          <a:noFill/>
          <a:ln/>
        </p:spPr>
        <p:txBody>
          <a:bodyPr wrap="square" lIns="0" tIns="0" rIns="0" bIns="0" rtlCol="0" anchor="ctr"/>
          <a:lstStyle/>
          <a:p>
            <a:pPr marL="0" indent="0" algn="ctr">
              <a:buNone/>
            </a:pPr>
            <a:r>
              <a:rPr lang="en-US" sz="1400" dirty="0">
                <a:solidFill>
                  <a:srgbClr val="E8EEF4"/>
                </a:solidFill>
                <a:latin typeface="Arial" pitchFamily="34" charset="0"/>
                <a:ea typeface="Arial" pitchFamily="34" charset="-122"/>
                <a:cs typeface="Arial" pitchFamily="34" charset="-120"/>
              </a:rPr>
              <a:t>Mcsylvester Mbah  |  IT497 Capstone  |  Week 6</a:t>
            </a:r>
            <a:endParaRPr lang="en-US" sz="1400" dirty="0"/>
          </a:p>
        </p:txBody>
      </p:sp>
      <p:sp>
        <p:nvSpPr>
          <p:cNvPr id="7" name="Text 5"/>
          <p:cNvSpPr/>
          <p:nvPr/>
        </p:nvSpPr>
        <p:spPr>
          <a:xfrm>
            <a:off x="457200" y="4023360"/>
            <a:ext cx="8229600" cy="274320"/>
          </a:xfrm>
          <a:prstGeom prst="rect">
            <a:avLst/>
          </a:prstGeom>
          <a:noFill/>
          <a:ln/>
        </p:spPr>
        <p:txBody>
          <a:bodyPr wrap="square" lIns="0" tIns="0" rIns="0" bIns="0" rtlCol="0" anchor="ctr"/>
          <a:lstStyle/>
          <a:p>
            <a:pPr marL="0" indent="0" algn="ctr">
              <a:buNone/>
            </a:pPr>
            <a:r>
              <a:rPr lang="en-US" sz="1300" dirty="0">
                <a:solidFill>
                  <a:srgbClr val="6B7C93"/>
                </a:solidFill>
                <a:latin typeface="Arial" pitchFamily="34" charset="0"/>
                <a:ea typeface="Arial" pitchFamily="34" charset="-122"/>
                <a:cs typeface="Arial" pitchFamily="34" charset="-120"/>
              </a:rPr>
              <a:t>Instructor: Luman Hohaia  |  August 3, 2026</a:t>
            </a:r>
            <a:endParaRPr lang="en-US" sz="1300" dirty="0"/>
          </a:p>
        </p:txBody>
      </p:sp>
      <p:sp>
        <p:nvSpPr>
          <p:cNvPr id="8" name="Shape 6"/>
          <p:cNvSpPr/>
          <p:nvPr/>
        </p:nvSpPr>
        <p:spPr>
          <a:xfrm>
            <a:off x="0" y="5070348"/>
            <a:ext cx="9144000" cy="73152"/>
          </a:xfrm>
          <a:prstGeom prst="rect">
            <a:avLst/>
          </a:prstGeom>
          <a:solidFill>
            <a:srgbClr val="C9A227"/>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65D"/>
          </a:solidFill>
          <a:ln/>
        </p:spPr>
      </p:sp>
      <p:sp>
        <p:nvSpPr>
          <p:cNvPr id="3" name="Text 1"/>
          <p:cNvSpPr/>
          <p:nvPr/>
        </p:nvSpPr>
        <p:spPr>
          <a:xfrm>
            <a:off x="457200" y="137160"/>
            <a:ext cx="8229600" cy="3657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My Journey</a:t>
            </a:r>
            <a:endParaRPr lang="en-US" sz="2400" dirty="0"/>
          </a:p>
        </p:txBody>
      </p:sp>
      <p:sp>
        <p:nvSpPr>
          <p:cNvPr id="4" name="Shape 2"/>
          <p:cNvSpPr/>
          <p:nvPr/>
        </p:nvSpPr>
        <p:spPr>
          <a:xfrm>
            <a:off x="365760" y="914400"/>
            <a:ext cx="4023360" cy="2926080"/>
          </a:xfrm>
          <a:prstGeom prst="roundRect">
            <a:avLst>
              <a:gd name="adj" fmla="val 3125"/>
            </a:avLst>
          </a:prstGeom>
          <a:solidFill>
            <a:srgbClr val="FFFFFF"/>
          </a:solidFill>
          <a:ln/>
          <a:effectLst>
            <a:outerShdw blurRad="101600" dist="25400" dir="8100000" algn="bl" rotWithShape="0">
              <a:srgbClr val="000000">
                <a:alpha val="10000"/>
              </a:srgbClr>
            </a:outerShdw>
          </a:effectLst>
        </p:spPr>
      </p:sp>
      <p:sp>
        <p:nvSpPr>
          <p:cNvPr id="5" name="Shape 3"/>
          <p:cNvSpPr/>
          <p:nvPr/>
        </p:nvSpPr>
        <p:spPr>
          <a:xfrm>
            <a:off x="365760" y="914400"/>
            <a:ext cx="109728" cy="2926080"/>
          </a:xfrm>
          <a:prstGeom prst="rect">
            <a:avLst/>
          </a:prstGeom>
          <a:solidFill>
            <a:srgbClr val="C9A227"/>
          </a:solidFill>
          <a:ln/>
        </p:spPr>
      </p:sp>
      <p:pic>
        <p:nvPicPr>
          <p:cNvPr id="6" name="Image 0" descr="preencoded.png"/>
          <p:cNvPicPr>
            <a:picLocks noChangeAspect="1"/>
          </p:cNvPicPr>
          <p:nvPr/>
        </p:nvPicPr>
        <p:blipFill>
          <a:blip r:embed="rId3"/>
          <a:stretch>
            <a:fillRect/>
          </a:stretch>
        </p:blipFill>
        <p:spPr>
          <a:xfrm>
            <a:off x="640080" y="1097280"/>
            <a:ext cx="320040" cy="320040"/>
          </a:xfrm>
          <a:prstGeom prst="rect">
            <a:avLst/>
          </a:prstGeom>
        </p:spPr>
      </p:pic>
      <p:sp>
        <p:nvSpPr>
          <p:cNvPr id="7" name="Text 4"/>
          <p:cNvSpPr/>
          <p:nvPr/>
        </p:nvSpPr>
        <p:spPr>
          <a:xfrm>
            <a:off x="1051560" y="1143000"/>
            <a:ext cx="3108960" cy="274320"/>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Initial Spiritual Goals</a:t>
            </a:r>
            <a:endParaRPr lang="en-US" sz="1400" dirty="0"/>
          </a:p>
        </p:txBody>
      </p:sp>
      <p:sp>
        <p:nvSpPr>
          <p:cNvPr id="8" name="Text 5"/>
          <p:cNvSpPr/>
          <p:nvPr/>
        </p:nvSpPr>
        <p:spPr>
          <a:xfrm>
            <a:off x="640080" y="1554480"/>
            <a:ext cx="3566160" cy="2103120"/>
          </a:xfrm>
          <a:prstGeom prst="rect">
            <a:avLst/>
          </a:prstGeom>
          <a:noFill/>
          <a:ln/>
        </p:spPr>
        <p:txBody>
          <a:bodyPr wrap="square" rtlCol="0" anchor="ctr"/>
          <a:lstStyle/>
          <a:p>
            <a:pPr marL="342900" indent="-342900">
              <a:spcAft>
                <a:spcPts val="600"/>
              </a:spcAft>
              <a:buSzPct val="100000"/>
              <a:buChar char="•"/>
            </a:pPr>
            <a:r>
              <a:rPr lang="en-US" sz="1200" dirty="0">
                <a:solidFill>
                  <a:srgbClr val="1A2332"/>
                </a:solidFill>
                <a:latin typeface="Arial" pitchFamily="34" charset="0"/>
                <a:ea typeface="Arial" pitchFamily="34" charset="-122"/>
                <a:cs typeface="Arial" pitchFamily="34" charset="-120"/>
              </a:rPr>
              <a:t>Strengthen my relationship with God</a:t>
            </a:r>
            <a:endParaRPr lang="en-US" sz="1200" dirty="0"/>
          </a:p>
          <a:p>
            <a:pPr marL="342900" indent="-342900">
              <a:spcAft>
                <a:spcPts val="600"/>
              </a:spcAft>
              <a:buSzPct val="100000"/>
              <a:buChar char="•"/>
            </a:pPr>
            <a:r>
              <a:rPr lang="en-US" sz="1200" dirty="0">
                <a:solidFill>
                  <a:srgbClr val="1A2332"/>
                </a:solidFill>
                <a:latin typeface="Arial" pitchFamily="34" charset="0"/>
                <a:ea typeface="Arial" pitchFamily="34" charset="-122"/>
                <a:cs typeface="Arial" pitchFamily="34" charset="-120"/>
              </a:rPr>
              <a:t>Develop greater faith and self-reliance</a:t>
            </a:r>
            <a:endParaRPr lang="en-US" sz="1200" dirty="0"/>
          </a:p>
          <a:p>
            <a:pPr marL="342900" indent="-342900">
              <a:spcAft>
                <a:spcPts val="600"/>
              </a:spcAft>
              <a:buSzPct val="100000"/>
              <a:buChar char="•"/>
            </a:pPr>
            <a:r>
              <a:rPr lang="en-US" sz="1200" dirty="0">
                <a:solidFill>
                  <a:srgbClr val="1A2332"/>
                </a:solidFill>
                <a:latin typeface="Arial" pitchFamily="34" charset="0"/>
                <a:ea typeface="Arial" pitchFamily="34" charset="-122"/>
                <a:cs typeface="Arial" pitchFamily="34" charset="-120"/>
              </a:rPr>
              <a:t>Become more consistent in prayer and scripture study</a:t>
            </a:r>
            <a:endParaRPr lang="en-US" sz="1200" dirty="0"/>
          </a:p>
          <a:p>
            <a:pPr marL="342900" indent="-342900">
              <a:spcAft>
                <a:spcPts val="600"/>
              </a:spcAft>
              <a:buSzPct val="100000"/>
              <a:buChar char="•"/>
            </a:pPr>
            <a:r>
              <a:rPr lang="en-US" sz="1200" dirty="0">
                <a:solidFill>
                  <a:srgbClr val="1A2332"/>
                </a:solidFill>
                <a:latin typeface="Arial" pitchFamily="34" charset="0"/>
                <a:ea typeface="Arial" pitchFamily="34" charset="-122"/>
                <a:cs typeface="Arial" pitchFamily="34" charset="-120"/>
              </a:rPr>
              <a:t>Serve others more intentionally</a:t>
            </a:r>
            <a:endParaRPr lang="en-US" sz="1200" dirty="0"/>
          </a:p>
          <a:p>
            <a:pPr marL="342900" indent="-342900">
              <a:spcAft>
                <a:spcPts val="600"/>
              </a:spcAft>
              <a:buSzPct val="100000"/>
              <a:buChar char="•"/>
            </a:pPr>
            <a:r>
              <a:rPr lang="en-US" sz="1200" dirty="0">
                <a:solidFill>
                  <a:srgbClr val="1A2332"/>
                </a:solidFill>
                <a:latin typeface="Arial" pitchFamily="34" charset="0"/>
                <a:ea typeface="Arial" pitchFamily="34" charset="-122"/>
                <a:cs typeface="Arial" pitchFamily="34" charset="-120"/>
              </a:rPr>
              <a:t>Become a capable and trusted disciple of Jesus Christ</a:t>
            </a:r>
            <a:endParaRPr lang="en-US" sz="1200" dirty="0"/>
          </a:p>
        </p:txBody>
      </p:sp>
      <p:sp>
        <p:nvSpPr>
          <p:cNvPr id="9" name="Shape 6"/>
          <p:cNvSpPr/>
          <p:nvPr/>
        </p:nvSpPr>
        <p:spPr>
          <a:xfrm>
            <a:off x="4754880" y="914400"/>
            <a:ext cx="4023360" cy="2926080"/>
          </a:xfrm>
          <a:prstGeom prst="roundRect">
            <a:avLst>
              <a:gd name="adj" fmla="val 3125"/>
            </a:avLst>
          </a:prstGeom>
          <a:solidFill>
            <a:srgbClr val="FFFFFF"/>
          </a:solidFill>
          <a:ln/>
          <a:effectLst>
            <a:outerShdw blurRad="101600" dist="25400" dir="8100000" algn="bl" rotWithShape="0">
              <a:srgbClr val="000000">
                <a:alpha val="10000"/>
              </a:srgbClr>
            </a:outerShdw>
          </a:effectLst>
        </p:spPr>
      </p:sp>
      <p:sp>
        <p:nvSpPr>
          <p:cNvPr id="10" name="Shape 7"/>
          <p:cNvSpPr/>
          <p:nvPr/>
        </p:nvSpPr>
        <p:spPr>
          <a:xfrm>
            <a:off x="4754880" y="914400"/>
            <a:ext cx="109728" cy="2926080"/>
          </a:xfrm>
          <a:prstGeom prst="rect">
            <a:avLst/>
          </a:prstGeom>
          <a:solidFill>
            <a:srgbClr val="2E5A88"/>
          </a:solidFill>
          <a:ln/>
        </p:spPr>
      </p:sp>
      <p:pic>
        <p:nvPicPr>
          <p:cNvPr id="11" name="Image 1" descr="preencoded.png"/>
          <p:cNvPicPr>
            <a:picLocks noChangeAspect="1"/>
          </p:cNvPicPr>
          <p:nvPr/>
        </p:nvPicPr>
        <p:blipFill>
          <a:blip r:embed="rId4"/>
          <a:stretch>
            <a:fillRect/>
          </a:stretch>
        </p:blipFill>
        <p:spPr>
          <a:xfrm>
            <a:off x="5029200" y="1097280"/>
            <a:ext cx="320040" cy="320040"/>
          </a:xfrm>
          <a:prstGeom prst="rect">
            <a:avLst/>
          </a:prstGeom>
        </p:spPr>
      </p:pic>
      <p:sp>
        <p:nvSpPr>
          <p:cNvPr id="12" name="Text 8"/>
          <p:cNvSpPr/>
          <p:nvPr/>
        </p:nvSpPr>
        <p:spPr>
          <a:xfrm>
            <a:off x="5440680" y="1143000"/>
            <a:ext cx="3108960" cy="274320"/>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Initial Professional Goals</a:t>
            </a:r>
            <a:endParaRPr lang="en-US" sz="1400" dirty="0"/>
          </a:p>
        </p:txBody>
      </p:sp>
      <p:sp>
        <p:nvSpPr>
          <p:cNvPr id="13" name="Text 9"/>
          <p:cNvSpPr/>
          <p:nvPr/>
        </p:nvSpPr>
        <p:spPr>
          <a:xfrm>
            <a:off x="5029200" y="1554480"/>
            <a:ext cx="3566160" cy="2103120"/>
          </a:xfrm>
          <a:prstGeom prst="rect">
            <a:avLst/>
          </a:prstGeom>
          <a:noFill/>
          <a:ln/>
        </p:spPr>
        <p:txBody>
          <a:bodyPr wrap="square" rtlCol="0" anchor="ctr"/>
          <a:lstStyle/>
          <a:p>
            <a:pPr marL="342900" indent="-342900">
              <a:spcAft>
                <a:spcPts val="500"/>
              </a:spcAft>
              <a:buSzPct val="100000"/>
              <a:buChar char="•"/>
            </a:pPr>
            <a:r>
              <a:rPr lang="en-US" sz="1200" dirty="0">
                <a:solidFill>
                  <a:srgbClr val="1A2332"/>
                </a:solidFill>
                <a:latin typeface="Arial" pitchFamily="34" charset="0"/>
                <a:ea typeface="Arial" pitchFamily="34" charset="-122"/>
                <a:cs typeface="Arial" pitchFamily="34" charset="-120"/>
              </a:rPr>
              <a:t>Strengthen IT and cloud computing skills</a:t>
            </a:r>
            <a:endParaRPr lang="en-US" sz="1200" dirty="0"/>
          </a:p>
          <a:p>
            <a:pPr marL="342900" indent="-342900">
              <a:spcAft>
                <a:spcPts val="500"/>
              </a:spcAft>
              <a:buSzPct val="100000"/>
              <a:buChar char="•"/>
            </a:pPr>
            <a:r>
              <a:rPr lang="en-US" sz="1200" dirty="0">
                <a:solidFill>
                  <a:srgbClr val="1A2332"/>
                </a:solidFill>
                <a:latin typeface="Arial" pitchFamily="34" charset="0"/>
                <a:ea typeface="Arial" pitchFamily="34" charset="-122"/>
                <a:cs typeface="Arial" pitchFamily="34" charset="-120"/>
              </a:rPr>
              <a:t>Improve professional communication</a:t>
            </a:r>
            <a:endParaRPr lang="en-US" sz="1200" dirty="0"/>
          </a:p>
          <a:p>
            <a:pPr marL="342900" indent="-342900">
              <a:spcAft>
                <a:spcPts val="500"/>
              </a:spcAft>
              <a:buSzPct val="100000"/>
              <a:buChar char="•"/>
            </a:pPr>
            <a:r>
              <a:rPr lang="en-US" sz="1200" dirty="0">
                <a:solidFill>
                  <a:srgbClr val="1A2332"/>
                </a:solidFill>
                <a:latin typeface="Arial" pitchFamily="34" charset="0"/>
                <a:ea typeface="Arial" pitchFamily="34" charset="-122"/>
                <a:cs typeface="Arial" pitchFamily="34" charset="-120"/>
              </a:rPr>
              <a:t>Develop stronger problem-solving abilities</a:t>
            </a:r>
            <a:endParaRPr lang="en-US" sz="1200" dirty="0"/>
          </a:p>
          <a:p>
            <a:pPr marL="342900" indent="-342900">
              <a:spcAft>
                <a:spcPts val="500"/>
              </a:spcAft>
              <a:buSzPct val="100000"/>
              <a:buChar char="•"/>
            </a:pPr>
            <a:r>
              <a:rPr lang="en-US" sz="1200" dirty="0">
                <a:solidFill>
                  <a:srgbClr val="1A2332"/>
                </a:solidFill>
                <a:latin typeface="Arial" pitchFamily="34" charset="0"/>
                <a:ea typeface="Arial" pitchFamily="34" charset="-122"/>
                <a:cs typeface="Arial" pitchFamily="34" charset="-120"/>
              </a:rPr>
              <a:t>Build leadership and professional confidence</a:t>
            </a:r>
            <a:endParaRPr lang="en-US" sz="1200" dirty="0"/>
          </a:p>
          <a:p>
            <a:pPr marL="342900" indent="-342900">
              <a:spcAft>
                <a:spcPts val="500"/>
              </a:spcAft>
              <a:buSzPct val="100000"/>
              <a:buChar char="•"/>
            </a:pPr>
            <a:r>
              <a:rPr lang="en-US" sz="1200" dirty="0">
                <a:solidFill>
                  <a:srgbClr val="1A2332"/>
                </a:solidFill>
                <a:latin typeface="Arial" pitchFamily="34" charset="0"/>
                <a:ea typeface="Arial" pitchFamily="34" charset="-122"/>
                <a:cs typeface="Arial" pitchFamily="34" charset="-120"/>
              </a:rPr>
              <a:t>Practice ethical and responsible technology use</a:t>
            </a:r>
            <a:endParaRPr lang="en-US" sz="1200" dirty="0"/>
          </a:p>
          <a:p>
            <a:pPr marL="342900" indent="-342900">
              <a:spcAft>
                <a:spcPts val="500"/>
              </a:spcAft>
              <a:buSzPct val="100000"/>
              <a:buChar char="•"/>
            </a:pPr>
            <a:r>
              <a:rPr lang="en-US" sz="1200" dirty="0">
                <a:solidFill>
                  <a:srgbClr val="1A2332"/>
                </a:solidFill>
                <a:latin typeface="Arial" pitchFamily="34" charset="0"/>
                <a:ea typeface="Arial" pitchFamily="34" charset="-122"/>
                <a:cs typeface="Arial" pitchFamily="34" charset="-120"/>
              </a:rPr>
              <a:t>Prepare for a successful career in IT</a:t>
            </a:r>
            <a:endParaRPr lang="en-US" sz="1200" dirty="0"/>
          </a:p>
        </p:txBody>
      </p:sp>
      <p:sp>
        <p:nvSpPr>
          <p:cNvPr id="14" name="Shape 10"/>
          <p:cNvSpPr/>
          <p:nvPr/>
        </p:nvSpPr>
        <p:spPr>
          <a:xfrm>
            <a:off x="365760" y="4023360"/>
            <a:ext cx="8412480" cy="868680"/>
          </a:xfrm>
          <a:prstGeom prst="roundRect">
            <a:avLst>
              <a:gd name="adj" fmla="val 8421"/>
            </a:avLst>
          </a:prstGeom>
          <a:solidFill>
            <a:srgbClr val="E8F1F8"/>
          </a:solidFill>
          <a:ln/>
        </p:spPr>
      </p:sp>
      <p:sp>
        <p:nvSpPr>
          <p:cNvPr id="15" name="Text 11"/>
          <p:cNvSpPr/>
          <p:nvPr/>
        </p:nvSpPr>
        <p:spPr>
          <a:xfrm>
            <a:off x="548640" y="4114800"/>
            <a:ext cx="8046720" cy="685800"/>
          </a:xfrm>
          <a:prstGeom prst="rect">
            <a:avLst/>
          </a:prstGeom>
          <a:noFill/>
          <a:ln/>
        </p:spPr>
        <p:txBody>
          <a:bodyPr wrap="square" rtlCol="0" anchor="ctr"/>
          <a:lstStyle/>
          <a:p>
            <a:pPr marL="0" indent="0" algn="ctr">
              <a:buNone/>
            </a:pPr>
            <a:r>
              <a:rPr lang="en-US" sz="1300" i="1" dirty="0">
                <a:solidFill>
                  <a:srgbClr val="1B365D"/>
                </a:solidFill>
                <a:latin typeface="Georgia" pitchFamily="34" charset="0"/>
                <a:ea typeface="Georgia" pitchFamily="34" charset="-122"/>
                <a:cs typeface="Georgia" pitchFamily="34" charset="-120"/>
              </a:rPr>
              <a:t>Key Insight: My spiritual and professional development are not separate journeys. My faith influences how I learn, serve, communicate, make decisions, and use my professional skills.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65D"/>
          </a:solidFill>
          <a:ln/>
        </p:spPr>
      </p:sp>
      <p:sp>
        <p:nvSpPr>
          <p:cNvPr id="3" name="Text 1"/>
          <p:cNvSpPr/>
          <p:nvPr/>
        </p:nvSpPr>
        <p:spPr>
          <a:xfrm>
            <a:off x="457200" y="137160"/>
            <a:ext cx="8229600" cy="3657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Spiritual Progression</a:t>
            </a:r>
            <a:endParaRPr lang="en-US" sz="2400" dirty="0"/>
          </a:p>
        </p:txBody>
      </p:sp>
      <p:sp>
        <p:nvSpPr>
          <p:cNvPr id="4" name="Shape 2"/>
          <p:cNvSpPr/>
          <p:nvPr/>
        </p:nvSpPr>
        <p:spPr>
          <a:xfrm>
            <a:off x="365760" y="914400"/>
            <a:ext cx="4114800" cy="1371600"/>
          </a:xfrm>
          <a:prstGeom prst="roundRect">
            <a:avLst>
              <a:gd name="adj" fmla="val 6667"/>
            </a:avLst>
          </a:prstGeom>
          <a:solidFill>
            <a:srgbClr val="FFFFFF"/>
          </a:solidFill>
          <a:ln/>
          <a:effectLst>
            <a:outerShdw blurRad="101600" dist="25400" dir="8100000" algn="bl" rotWithShape="0">
              <a:srgbClr val="000000">
                <a:alpha val="10000"/>
              </a:srgbClr>
            </a:outerShdw>
          </a:effectLst>
        </p:spPr>
      </p:sp>
      <p:pic>
        <p:nvPicPr>
          <p:cNvPr id="5" name="Image 0" descr="preencoded.png"/>
          <p:cNvPicPr>
            <a:picLocks noChangeAspect="1"/>
          </p:cNvPicPr>
          <p:nvPr/>
        </p:nvPicPr>
        <p:blipFill>
          <a:blip r:embed="rId3"/>
          <a:stretch>
            <a:fillRect/>
          </a:stretch>
        </p:blipFill>
        <p:spPr>
          <a:xfrm>
            <a:off x="548640" y="1143000"/>
            <a:ext cx="365760" cy="365760"/>
          </a:xfrm>
          <a:prstGeom prst="rect">
            <a:avLst/>
          </a:prstGeom>
        </p:spPr>
      </p:pic>
      <p:sp>
        <p:nvSpPr>
          <p:cNvPr id="6" name="Text 3"/>
          <p:cNvSpPr/>
          <p:nvPr/>
        </p:nvSpPr>
        <p:spPr>
          <a:xfrm>
            <a:off x="1051560" y="1143000"/>
            <a:ext cx="3200400" cy="320040"/>
          </a:xfrm>
          <a:prstGeom prst="rect">
            <a:avLst/>
          </a:prstGeom>
          <a:noFill/>
          <a:ln/>
        </p:spPr>
        <p:txBody>
          <a:bodyPr wrap="square" lIns="0" tIns="0" rIns="0" bIns="0" rtlCol="0" anchor="ctr"/>
          <a:lstStyle/>
          <a:p>
            <a:pPr marL="0" indent="0">
              <a:buNone/>
            </a:pPr>
            <a:r>
              <a:rPr lang="en-US" sz="1500" b="1" dirty="0">
                <a:solidFill>
                  <a:srgbClr val="1B365D"/>
                </a:solidFill>
                <a:latin typeface="Arial" pitchFamily="34" charset="0"/>
                <a:ea typeface="Arial" pitchFamily="34" charset="-122"/>
                <a:cs typeface="Arial" pitchFamily="34" charset="-120"/>
              </a:rPr>
              <a:t>Faith &amp; Trust</a:t>
            </a:r>
            <a:endParaRPr lang="en-US" sz="1500" dirty="0"/>
          </a:p>
        </p:txBody>
      </p:sp>
      <p:sp>
        <p:nvSpPr>
          <p:cNvPr id="7" name="Text 4"/>
          <p:cNvSpPr/>
          <p:nvPr/>
        </p:nvSpPr>
        <p:spPr>
          <a:xfrm>
            <a:off x="548640" y="1600200"/>
            <a:ext cx="3749040" cy="548640"/>
          </a:xfrm>
          <a:prstGeom prst="rect">
            <a:avLst/>
          </a:prstGeom>
          <a:noFill/>
          <a:ln/>
        </p:spPr>
        <p:txBody>
          <a:bodyPr wrap="square" lIns="0" tIns="0" rIns="0" bIns="0" rtlCol="0" anchor="ctr"/>
          <a:lstStyle/>
          <a:p>
            <a:pPr marL="0" indent="0">
              <a:buNone/>
            </a:pPr>
            <a:r>
              <a:rPr lang="en-US" sz="1200" dirty="0">
                <a:solidFill>
                  <a:srgbClr val="1A2332"/>
                </a:solidFill>
                <a:latin typeface="Arial" pitchFamily="34" charset="0"/>
                <a:ea typeface="Arial" pitchFamily="34" charset="-122"/>
                <a:cs typeface="Arial" pitchFamily="34" charset="-120"/>
              </a:rPr>
              <a:t>I strengthened my faith through consistent prayer, scripture study, and reflection.</a:t>
            </a:r>
            <a:endParaRPr lang="en-US" sz="1200" dirty="0"/>
          </a:p>
        </p:txBody>
      </p:sp>
      <p:sp>
        <p:nvSpPr>
          <p:cNvPr id="8" name="Shape 5"/>
          <p:cNvSpPr/>
          <p:nvPr/>
        </p:nvSpPr>
        <p:spPr>
          <a:xfrm>
            <a:off x="4754880" y="914400"/>
            <a:ext cx="4114800" cy="1371600"/>
          </a:xfrm>
          <a:prstGeom prst="roundRect">
            <a:avLst>
              <a:gd name="adj" fmla="val 6667"/>
            </a:avLst>
          </a:prstGeom>
          <a:solidFill>
            <a:srgbClr val="FFFFFF"/>
          </a:solidFill>
          <a:ln/>
          <a:effectLst>
            <a:outerShdw blurRad="101600" dist="25400" dir="8100000" algn="bl" rotWithShape="0">
              <a:srgbClr val="000000">
                <a:alpha val="10000"/>
              </a:srgbClr>
            </a:outerShdw>
          </a:effectLst>
        </p:spPr>
      </p:sp>
      <p:pic>
        <p:nvPicPr>
          <p:cNvPr id="9" name="Image 1" descr="preencoded.png"/>
          <p:cNvPicPr>
            <a:picLocks noChangeAspect="1"/>
          </p:cNvPicPr>
          <p:nvPr/>
        </p:nvPicPr>
        <p:blipFill>
          <a:blip r:embed="rId4"/>
          <a:stretch>
            <a:fillRect/>
          </a:stretch>
        </p:blipFill>
        <p:spPr>
          <a:xfrm>
            <a:off x="4937760" y="1143000"/>
            <a:ext cx="365760" cy="365760"/>
          </a:xfrm>
          <a:prstGeom prst="rect">
            <a:avLst/>
          </a:prstGeom>
        </p:spPr>
      </p:pic>
      <p:sp>
        <p:nvSpPr>
          <p:cNvPr id="10" name="Text 6"/>
          <p:cNvSpPr/>
          <p:nvPr/>
        </p:nvSpPr>
        <p:spPr>
          <a:xfrm>
            <a:off x="5440680" y="1143000"/>
            <a:ext cx="3200400" cy="320040"/>
          </a:xfrm>
          <a:prstGeom prst="rect">
            <a:avLst/>
          </a:prstGeom>
          <a:noFill/>
          <a:ln/>
        </p:spPr>
        <p:txBody>
          <a:bodyPr wrap="square" lIns="0" tIns="0" rIns="0" bIns="0" rtlCol="0" anchor="ctr"/>
          <a:lstStyle/>
          <a:p>
            <a:pPr marL="0" indent="0">
              <a:buNone/>
            </a:pPr>
            <a:r>
              <a:rPr lang="en-US" sz="1500" b="1" dirty="0">
                <a:solidFill>
                  <a:srgbClr val="1B365D"/>
                </a:solidFill>
                <a:latin typeface="Arial" pitchFamily="34" charset="0"/>
                <a:ea typeface="Arial" pitchFamily="34" charset="-122"/>
                <a:cs typeface="Arial" pitchFamily="34" charset="-120"/>
              </a:rPr>
              <a:t>Self-Reliance</a:t>
            </a:r>
            <a:endParaRPr lang="en-US" sz="1500" dirty="0"/>
          </a:p>
        </p:txBody>
      </p:sp>
      <p:sp>
        <p:nvSpPr>
          <p:cNvPr id="11" name="Text 7"/>
          <p:cNvSpPr/>
          <p:nvPr/>
        </p:nvSpPr>
        <p:spPr>
          <a:xfrm>
            <a:off x="4937760" y="1600200"/>
            <a:ext cx="3749040" cy="548640"/>
          </a:xfrm>
          <a:prstGeom prst="rect">
            <a:avLst/>
          </a:prstGeom>
          <a:noFill/>
          <a:ln/>
        </p:spPr>
        <p:txBody>
          <a:bodyPr wrap="square" lIns="0" tIns="0" rIns="0" bIns="0" rtlCol="0" anchor="ctr"/>
          <a:lstStyle/>
          <a:p>
            <a:pPr marL="0" indent="0">
              <a:buNone/>
            </a:pPr>
            <a:r>
              <a:rPr lang="en-US" sz="1200" dirty="0">
                <a:solidFill>
                  <a:srgbClr val="1A2332"/>
                </a:solidFill>
                <a:latin typeface="Arial" pitchFamily="34" charset="0"/>
                <a:ea typeface="Arial" pitchFamily="34" charset="-122"/>
                <a:cs typeface="Arial" pitchFamily="34" charset="-120"/>
              </a:rPr>
              <a:t>I learned to face challenges with greater patience, faith, and resilience.</a:t>
            </a:r>
            <a:endParaRPr lang="en-US" sz="1200" dirty="0"/>
          </a:p>
        </p:txBody>
      </p:sp>
      <p:sp>
        <p:nvSpPr>
          <p:cNvPr id="12" name="Shape 8"/>
          <p:cNvSpPr/>
          <p:nvPr/>
        </p:nvSpPr>
        <p:spPr>
          <a:xfrm>
            <a:off x="365760" y="2468880"/>
            <a:ext cx="4114800" cy="1371600"/>
          </a:xfrm>
          <a:prstGeom prst="roundRect">
            <a:avLst>
              <a:gd name="adj" fmla="val 6667"/>
            </a:avLst>
          </a:prstGeom>
          <a:solidFill>
            <a:srgbClr val="FFFFFF"/>
          </a:solidFill>
          <a:ln/>
          <a:effectLst>
            <a:outerShdw blurRad="101600" dist="25400" dir="8100000" algn="bl" rotWithShape="0">
              <a:srgbClr val="000000">
                <a:alpha val="10000"/>
              </a:srgbClr>
            </a:outerShdw>
          </a:effectLst>
        </p:spPr>
      </p:sp>
      <p:pic>
        <p:nvPicPr>
          <p:cNvPr id="13" name="Image 2" descr="preencoded.png"/>
          <p:cNvPicPr>
            <a:picLocks noChangeAspect="1"/>
          </p:cNvPicPr>
          <p:nvPr/>
        </p:nvPicPr>
        <p:blipFill>
          <a:blip r:embed="rId5"/>
          <a:stretch>
            <a:fillRect/>
          </a:stretch>
        </p:blipFill>
        <p:spPr>
          <a:xfrm>
            <a:off x="548640" y="2697480"/>
            <a:ext cx="365760" cy="365760"/>
          </a:xfrm>
          <a:prstGeom prst="rect">
            <a:avLst/>
          </a:prstGeom>
        </p:spPr>
      </p:pic>
      <p:sp>
        <p:nvSpPr>
          <p:cNvPr id="14" name="Text 9"/>
          <p:cNvSpPr/>
          <p:nvPr/>
        </p:nvSpPr>
        <p:spPr>
          <a:xfrm>
            <a:off x="1051560" y="2697480"/>
            <a:ext cx="3200400" cy="320040"/>
          </a:xfrm>
          <a:prstGeom prst="rect">
            <a:avLst/>
          </a:prstGeom>
          <a:noFill/>
          <a:ln/>
        </p:spPr>
        <p:txBody>
          <a:bodyPr wrap="square" lIns="0" tIns="0" rIns="0" bIns="0" rtlCol="0" anchor="ctr"/>
          <a:lstStyle/>
          <a:p>
            <a:pPr marL="0" indent="0">
              <a:buNone/>
            </a:pPr>
            <a:r>
              <a:rPr lang="en-US" sz="1500" b="1" dirty="0">
                <a:solidFill>
                  <a:srgbClr val="1B365D"/>
                </a:solidFill>
                <a:latin typeface="Arial" pitchFamily="34" charset="0"/>
                <a:ea typeface="Arial" pitchFamily="34" charset="-122"/>
                <a:cs typeface="Arial" pitchFamily="34" charset="-120"/>
              </a:rPr>
              <a:t>Service Mindset</a:t>
            </a:r>
            <a:endParaRPr lang="en-US" sz="1500" dirty="0"/>
          </a:p>
        </p:txBody>
      </p:sp>
      <p:sp>
        <p:nvSpPr>
          <p:cNvPr id="15" name="Text 10"/>
          <p:cNvSpPr/>
          <p:nvPr/>
        </p:nvSpPr>
        <p:spPr>
          <a:xfrm>
            <a:off x="548640" y="3154680"/>
            <a:ext cx="3749040" cy="548640"/>
          </a:xfrm>
          <a:prstGeom prst="rect">
            <a:avLst/>
          </a:prstGeom>
          <a:noFill/>
          <a:ln/>
        </p:spPr>
        <p:txBody>
          <a:bodyPr wrap="square" lIns="0" tIns="0" rIns="0" bIns="0" rtlCol="0" anchor="ctr"/>
          <a:lstStyle/>
          <a:p>
            <a:pPr marL="0" indent="0">
              <a:buNone/>
            </a:pPr>
            <a:r>
              <a:rPr lang="en-US" sz="1200" dirty="0">
                <a:solidFill>
                  <a:srgbClr val="1A2332"/>
                </a:solidFill>
                <a:latin typeface="Arial" pitchFamily="34" charset="0"/>
                <a:ea typeface="Arial" pitchFamily="34" charset="-122"/>
                <a:cs typeface="Arial" pitchFamily="34" charset="-120"/>
              </a:rPr>
              <a:t>I recognized education and professional development as opportunities to serve others.</a:t>
            </a:r>
            <a:endParaRPr lang="en-US" sz="1200" dirty="0"/>
          </a:p>
        </p:txBody>
      </p:sp>
      <p:sp>
        <p:nvSpPr>
          <p:cNvPr id="16" name="Shape 11"/>
          <p:cNvSpPr/>
          <p:nvPr/>
        </p:nvSpPr>
        <p:spPr>
          <a:xfrm>
            <a:off x="4754880" y="2468880"/>
            <a:ext cx="4114800" cy="1371600"/>
          </a:xfrm>
          <a:prstGeom prst="roundRect">
            <a:avLst>
              <a:gd name="adj" fmla="val 6667"/>
            </a:avLst>
          </a:prstGeom>
          <a:solidFill>
            <a:srgbClr val="FFFFFF"/>
          </a:solidFill>
          <a:ln/>
          <a:effectLst>
            <a:outerShdw blurRad="101600" dist="25400" dir="8100000" algn="bl" rotWithShape="0">
              <a:srgbClr val="000000">
                <a:alpha val="10000"/>
              </a:srgbClr>
            </a:outerShdw>
          </a:effectLst>
        </p:spPr>
      </p:sp>
      <p:pic>
        <p:nvPicPr>
          <p:cNvPr id="17" name="Image 3" descr="preencoded.png"/>
          <p:cNvPicPr>
            <a:picLocks noChangeAspect="1"/>
          </p:cNvPicPr>
          <p:nvPr/>
        </p:nvPicPr>
        <p:blipFill>
          <a:blip r:embed="rId6"/>
          <a:stretch>
            <a:fillRect/>
          </a:stretch>
        </p:blipFill>
        <p:spPr>
          <a:xfrm>
            <a:off x="4937760" y="2697480"/>
            <a:ext cx="365760" cy="365760"/>
          </a:xfrm>
          <a:prstGeom prst="rect">
            <a:avLst/>
          </a:prstGeom>
        </p:spPr>
      </p:pic>
      <p:sp>
        <p:nvSpPr>
          <p:cNvPr id="18" name="Text 12"/>
          <p:cNvSpPr/>
          <p:nvPr/>
        </p:nvSpPr>
        <p:spPr>
          <a:xfrm>
            <a:off x="5440680" y="2697480"/>
            <a:ext cx="3200400" cy="320040"/>
          </a:xfrm>
          <a:prstGeom prst="rect">
            <a:avLst/>
          </a:prstGeom>
          <a:noFill/>
          <a:ln/>
        </p:spPr>
        <p:txBody>
          <a:bodyPr wrap="square" lIns="0" tIns="0" rIns="0" bIns="0" rtlCol="0" anchor="ctr"/>
          <a:lstStyle/>
          <a:p>
            <a:pPr marL="0" indent="0">
              <a:buNone/>
            </a:pPr>
            <a:r>
              <a:rPr lang="en-US" sz="1500" b="1" dirty="0">
                <a:solidFill>
                  <a:srgbClr val="1B365D"/>
                </a:solidFill>
                <a:latin typeface="Arial" pitchFamily="34" charset="0"/>
                <a:ea typeface="Arial" pitchFamily="34" charset="-122"/>
                <a:cs typeface="Arial" pitchFamily="34" charset="-120"/>
              </a:rPr>
              <a:t>Christlike Values</a:t>
            </a:r>
            <a:endParaRPr lang="en-US" sz="1500" dirty="0"/>
          </a:p>
        </p:txBody>
      </p:sp>
      <p:sp>
        <p:nvSpPr>
          <p:cNvPr id="19" name="Text 13"/>
          <p:cNvSpPr/>
          <p:nvPr/>
        </p:nvSpPr>
        <p:spPr>
          <a:xfrm>
            <a:off x="4937760" y="3154680"/>
            <a:ext cx="3749040" cy="548640"/>
          </a:xfrm>
          <a:prstGeom prst="rect">
            <a:avLst/>
          </a:prstGeom>
          <a:noFill/>
          <a:ln/>
        </p:spPr>
        <p:txBody>
          <a:bodyPr wrap="square" lIns="0" tIns="0" rIns="0" bIns="0" rtlCol="0" anchor="ctr"/>
          <a:lstStyle/>
          <a:p>
            <a:pPr marL="0" indent="0">
              <a:buNone/>
            </a:pPr>
            <a:r>
              <a:rPr lang="en-US" sz="1200" dirty="0">
                <a:solidFill>
                  <a:srgbClr val="1A2332"/>
                </a:solidFill>
                <a:latin typeface="Arial" pitchFamily="34" charset="0"/>
                <a:ea typeface="Arial" pitchFamily="34" charset="-122"/>
                <a:cs typeface="Arial" pitchFamily="34" charset="-120"/>
              </a:rPr>
              <a:t>I became more intentional about applying integrity, accountability, humility, and service.</a:t>
            </a:r>
            <a:endParaRPr lang="en-US" sz="1200" dirty="0"/>
          </a:p>
        </p:txBody>
      </p:sp>
      <p:sp>
        <p:nvSpPr>
          <p:cNvPr id="20" name="Shape 14"/>
          <p:cNvSpPr/>
          <p:nvPr/>
        </p:nvSpPr>
        <p:spPr>
          <a:xfrm>
            <a:off x="365760" y="4114800"/>
            <a:ext cx="8412480" cy="822960"/>
          </a:xfrm>
          <a:prstGeom prst="roundRect">
            <a:avLst>
              <a:gd name="adj" fmla="val 8889"/>
            </a:avLst>
          </a:prstGeom>
          <a:solidFill>
            <a:srgbClr val="1B365D"/>
          </a:solidFill>
          <a:ln/>
        </p:spPr>
      </p:sp>
      <p:sp>
        <p:nvSpPr>
          <p:cNvPr id="21" name="Text 15"/>
          <p:cNvSpPr/>
          <p:nvPr/>
        </p:nvSpPr>
        <p:spPr>
          <a:xfrm>
            <a:off x="548640" y="4206240"/>
            <a:ext cx="8046720" cy="640080"/>
          </a:xfrm>
          <a:prstGeom prst="rect">
            <a:avLst/>
          </a:prstGeom>
          <a:noFill/>
          <a:ln/>
        </p:spPr>
        <p:txBody>
          <a:bodyPr wrap="square" rtlCol="0" anchor="ctr"/>
          <a:lstStyle/>
          <a:p>
            <a:pPr marL="0" indent="0" algn="ctr">
              <a:buNone/>
            </a:pPr>
            <a:r>
              <a:rPr lang="en-US" sz="1300" i="1" dirty="0">
                <a:solidFill>
                  <a:srgbClr val="FFFFFF"/>
                </a:solidFill>
                <a:latin typeface="Georgia" pitchFamily="34" charset="0"/>
                <a:ea typeface="Georgia" pitchFamily="34" charset="-122"/>
                <a:cs typeface="Georgia" pitchFamily="34" charset="-120"/>
              </a:rPr>
              <a:t>Elder Bednar taught that we gather all things together in Christ. My education, career, relationships, service, and spiritual development all contribute to becoming the person God wants me to become.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65D"/>
          </a:solidFill>
          <a:ln/>
        </p:spPr>
      </p:sp>
      <p:sp>
        <p:nvSpPr>
          <p:cNvPr id="3" name="Text 1"/>
          <p:cNvSpPr/>
          <p:nvPr/>
        </p:nvSpPr>
        <p:spPr>
          <a:xfrm>
            <a:off x="457200" y="137160"/>
            <a:ext cx="8229600" cy="3657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Spiritual Growth: What Changed?</a:t>
            </a:r>
            <a:endParaRPr lang="en-US" sz="2400" dirty="0"/>
          </a:p>
        </p:txBody>
      </p:sp>
      <p:sp>
        <p:nvSpPr>
          <p:cNvPr id="4" name="Shape 2"/>
          <p:cNvSpPr/>
          <p:nvPr/>
        </p:nvSpPr>
        <p:spPr>
          <a:xfrm>
            <a:off x="457200" y="914400"/>
            <a:ext cx="2651760" cy="411480"/>
          </a:xfrm>
          <a:prstGeom prst="rect">
            <a:avLst/>
          </a:prstGeom>
          <a:solidFill>
            <a:srgbClr val="1B365D"/>
          </a:solidFill>
          <a:ln/>
        </p:spPr>
      </p:sp>
      <p:sp>
        <p:nvSpPr>
          <p:cNvPr id="5" name="Text 3"/>
          <p:cNvSpPr/>
          <p:nvPr/>
        </p:nvSpPr>
        <p:spPr>
          <a:xfrm>
            <a:off x="457200" y="960120"/>
            <a:ext cx="265176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Before</a:t>
            </a:r>
            <a:endParaRPr lang="en-US" sz="1300" dirty="0"/>
          </a:p>
        </p:txBody>
      </p:sp>
      <p:sp>
        <p:nvSpPr>
          <p:cNvPr id="6" name="Shape 4"/>
          <p:cNvSpPr/>
          <p:nvPr/>
        </p:nvSpPr>
        <p:spPr>
          <a:xfrm>
            <a:off x="3108960" y="914400"/>
            <a:ext cx="2926080" cy="411480"/>
          </a:xfrm>
          <a:prstGeom prst="rect">
            <a:avLst/>
          </a:prstGeom>
          <a:solidFill>
            <a:srgbClr val="2E5A88"/>
          </a:solidFill>
          <a:ln/>
        </p:spPr>
      </p:sp>
      <p:sp>
        <p:nvSpPr>
          <p:cNvPr id="7" name="Text 5"/>
          <p:cNvSpPr/>
          <p:nvPr/>
        </p:nvSpPr>
        <p:spPr>
          <a:xfrm>
            <a:off x="3108960" y="960120"/>
            <a:ext cx="292608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What I Learned</a:t>
            </a:r>
            <a:endParaRPr lang="en-US" sz="1300" dirty="0"/>
          </a:p>
        </p:txBody>
      </p:sp>
      <p:sp>
        <p:nvSpPr>
          <p:cNvPr id="8" name="Shape 6"/>
          <p:cNvSpPr/>
          <p:nvPr/>
        </p:nvSpPr>
        <p:spPr>
          <a:xfrm>
            <a:off x="6035040" y="914400"/>
            <a:ext cx="2651760" cy="411480"/>
          </a:xfrm>
          <a:prstGeom prst="rect">
            <a:avLst/>
          </a:prstGeom>
          <a:solidFill>
            <a:srgbClr val="1B365D"/>
          </a:solidFill>
          <a:ln/>
        </p:spPr>
      </p:sp>
      <p:sp>
        <p:nvSpPr>
          <p:cNvPr id="9" name="Text 7"/>
          <p:cNvSpPr/>
          <p:nvPr/>
        </p:nvSpPr>
        <p:spPr>
          <a:xfrm>
            <a:off x="6035040" y="960120"/>
            <a:ext cx="265176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Now</a:t>
            </a:r>
            <a:endParaRPr lang="en-US" sz="1300" dirty="0"/>
          </a:p>
        </p:txBody>
      </p:sp>
      <p:sp>
        <p:nvSpPr>
          <p:cNvPr id="10" name="Shape 8"/>
          <p:cNvSpPr/>
          <p:nvPr/>
        </p:nvSpPr>
        <p:spPr>
          <a:xfrm>
            <a:off x="457200" y="1371600"/>
            <a:ext cx="2651760" cy="1005840"/>
          </a:xfrm>
          <a:prstGeom prst="rect">
            <a:avLst/>
          </a:prstGeom>
          <a:solidFill>
            <a:srgbClr val="FFFFFF"/>
          </a:solidFill>
          <a:ln w="6350">
            <a:solidFill>
              <a:srgbClr val="E8EEF4"/>
            </a:solidFill>
            <a:prstDash val="solid"/>
          </a:ln>
        </p:spPr>
      </p:sp>
      <p:sp>
        <p:nvSpPr>
          <p:cNvPr id="11" name="Text 9"/>
          <p:cNvSpPr/>
          <p:nvPr/>
        </p:nvSpPr>
        <p:spPr>
          <a:xfrm>
            <a:off x="548640" y="1508760"/>
            <a:ext cx="2468880" cy="731520"/>
          </a:xfrm>
          <a:prstGeom prst="rect">
            <a:avLst/>
          </a:prstGeom>
          <a:noFill/>
          <a:ln/>
        </p:spPr>
        <p:txBody>
          <a:bodyPr wrap="square"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I sometimes viewed education mainly as a career requirement.</a:t>
            </a:r>
            <a:endParaRPr lang="en-US" sz="1100" dirty="0"/>
          </a:p>
        </p:txBody>
      </p:sp>
      <p:sp>
        <p:nvSpPr>
          <p:cNvPr id="12" name="Shape 10"/>
          <p:cNvSpPr/>
          <p:nvPr/>
        </p:nvSpPr>
        <p:spPr>
          <a:xfrm>
            <a:off x="3108960" y="1371600"/>
            <a:ext cx="2926080" cy="1005840"/>
          </a:xfrm>
          <a:prstGeom prst="rect">
            <a:avLst/>
          </a:prstGeom>
          <a:solidFill>
            <a:srgbClr val="FFFFFF"/>
          </a:solidFill>
          <a:ln w="6350">
            <a:solidFill>
              <a:srgbClr val="E8EEF4"/>
            </a:solidFill>
            <a:prstDash val="solid"/>
          </a:ln>
        </p:spPr>
      </p:sp>
      <p:sp>
        <p:nvSpPr>
          <p:cNvPr id="13" name="Text 11"/>
          <p:cNvSpPr/>
          <p:nvPr/>
        </p:nvSpPr>
        <p:spPr>
          <a:xfrm>
            <a:off x="3200400" y="1508760"/>
            <a:ext cx="2743200" cy="731520"/>
          </a:xfrm>
          <a:prstGeom prst="rect">
            <a:avLst/>
          </a:prstGeom>
          <a:noFill/>
          <a:ln/>
        </p:spPr>
        <p:txBody>
          <a:bodyPr wrap="square"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Education can also be a form of preparation and service.</a:t>
            </a:r>
            <a:endParaRPr lang="en-US" sz="1100" dirty="0"/>
          </a:p>
        </p:txBody>
      </p:sp>
      <p:sp>
        <p:nvSpPr>
          <p:cNvPr id="14" name="Shape 12"/>
          <p:cNvSpPr/>
          <p:nvPr/>
        </p:nvSpPr>
        <p:spPr>
          <a:xfrm>
            <a:off x="6035040" y="1371600"/>
            <a:ext cx="2651760" cy="1005840"/>
          </a:xfrm>
          <a:prstGeom prst="rect">
            <a:avLst/>
          </a:prstGeom>
          <a:solidFill>
            <a:srgbClr val="FFFFFF"/>
          </a:solidFill>
          <a:ln w="6350">
            <a:solidFill>
              <a:srgbClr val="E8EEF4"/>
            </a:solidFill>
            <a:prstDash val="solid"/>
          </a:ln>
        </p:spPr>
      </p:sp>
      <p:sp>
        <p:nvSpPr>
          <p:cNvPr id="15" name="Text 13"/>
          <p:cNvSpPr/>
          <p:nvPr/>
        </p:nvSpPr>
        <p:spPr>
          <a:xfrm>
            <a:off x="6126480" y="1508760"/>
            <a:ext cx="2468880" cy="731520"/>
          </a:xfrm>
          <a:prstGeom prst="rect">
            <a:avLst/>
          </a:prstGeom>
          <a:noFill/>
          <a:ln/>
        </p:spPr>
        <p:txBody>
          <a:bodyPr wrap="square"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I see my education as preparation to serve and create positive impact.</a:t>
            </a:r>
            <a:endParaRPr lang="en-US" sz="1100" dirty="0"/>
          </a:p>
        </p:txBody>
      </p:sp>
      <p:sp>
        <p:nvSpPr>
          <p:cNvPr id="16" name="Shape 14"/>
          <p:cNvSpPr/>
          <p:nvPr/>
        </p:nvSpPr>
        <p:spPr>
          <a:xfrm>
            <a:off x="457200" y="2423160"/>
            <a:ext cx="2651760" cy="1005840"/>
          </a:xfrm>
          <a:prstGeom prst="rect">
            <a:avLst/>
          </a:prstGeom>
          <a:solidFill>
            <a:srgbClr val="E8F1F8"/>
          </a:solidFill>
          <a:ln w="6350">
            <a:solidFill>
              <a:srgbClr val="E8EEF4"/>
            </a:solidFill>
            <a:prstDash val="solid"/>
          </a:ln>
        </p:spPr>
      </p:sp>
      <p:sp>
        <p:nvSpPr>
          <p:cNvPr id="17" name="Text 15"/>
          <p:cNvSpPr/>
          <p:nvPr/>
        </p:nvSpPr>
        <p:spPr>
          <a:xfrm>
            <a:off x="548640" y="2560320"/>
            <a:ext cx="2468880" cy="731520"/>
          </a:xfrm>
          <a:prstGeom prst="rect">
            <a:avLst/>
          </a:prstGeom>
          <a:noFill/>
          <a:ln/>
        </p:spPr>
        <p:txBody>
          <a:bodyPr wrap="square"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I focused primarily on completing tasks.</a:t>
            </a:r>
            <a:endParaRPr lang="en-US" sz="1100" dirty="0"/>
          </a:p>
        </p:txBody>
      </p:sp>
      <p:sp>
        <p:nvSpPr>
          <p:cNvPr id="18" name="Shape 16"/>
          <p:cNvSpPr/>
          <p:nvPr/>
        </p:nvSpPr>
        <p:spPr>
          <a:xfrm>
            <a:off x="3108960" y="2423160"/>
            <a:ext cx="2926080" cy="1005840"/>
          </a:xfrm>
          <a:prstGeom prst="rect">
            <a:avLst/>
          </a:prstGeom>
          <a:solidFill>
            <a:srgbClr val="E8F1F8"/>
          </a:solidFill>
          <a:ln w="6350">
            <a:solidFill>
              <a:srgbClr val="E8EEF4"/>
            </a:solidFill>
            <a:prstDash val="solid"/>
          </a:ln>
        </p:spPr>
      </p:sp>
      <p:sp>
        <p:nvSpPr>
          <p:cNvPr id="19" name="Text 17"/>
          <p:cNvSpPr/>
          <p:nvPr/>
        </p:nvSpPr>
        <p:spPr>
          <a:xfrm>
            <a:off x="3200400" y="2560320"/>
            <a:ext cx="2743200" cy="731520"/>
          </a:xfrm>
          <a:prstGeom prst="rect">
            <a:avLst/>
          </a:prstGeom>
          <a:noFill/>
          <a:ln/>
        </p:spPr>
        <p:txBody>
          <a:bodyPr wrap="square"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Reflection helps me understand why I am doing them.</a:t>
            </a:r>
            <a:endParaRPr lang="en-US" sz="1100" dirty="0"/>
          </a:p>
        </p:txBody>
      </p:sp>
      <p:sp>
        <p:nvSpPr>
          <p:cNvPr id="20" name="Shape 18"/>
          <p:cNvSpPr/>
          <p:nvPr/>
        </p:nvSpPr>
        <p:spPr>
          <a:xfrm>
            <a:off x="6035040" y="2423160"/>
            <a:ext cx="2651760" cy="1005840"/>
          </a:xfrm>
          <a:prstGeom prst="rect">
            <a:avLst/>
          </a:prstGeom>
          <a:solidFill>
            <a:srgbClr val="E8F1F8"/>
          </a:solidFill>
          <a:ln w="6350">
            <a:solidFill>
              <a:srgbClr val="E8EEF4"/>
            </a:solidFill>
            <a:prstDash val="solid"/>
          </a:ln>
        </p:spPr>
      </p:sp>
      <p:sp>
        <p:nvSpPr>
          <p:cNvPr id="21" name="Text 19"/>
          <p:cNvSpPr/>
          <p:nvPr/>
        </p:nvSpPr>
        <p:spPr>
          <a:xfrm>
            <a:off x="6126480" y="2560320"/>
            <a:ext cx="2468880" cy="731520"/>
          </a:xfrm>
          <a:prstGeom prst="rect">
            <a:avLst/>
          </a:prstGeom>
          <a:noFill/>
          <a:ln/>
        </p:spPr>
        <p:txBody>
          <a:bodyPr wrap="square"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I try to connect my actions with larger purposes.</a:t>
            </a:r>
            <a:endParaRPr lang="en-US" sz="1100" dirty="0"/>
          </a:p>
        </p:txBody>
      </p:sp>
      <p:sp>
        <p:nvSpPr>
          <p:cNvPr id="22" name="Shape 20"/>
          <p:cNvSpPr/>
          <p:nvPr/>
        </p:nvSpPr>
        <p:spPr>
          <a:xfrm>
            <a:off x="457200" y="3474720"/>
            <a:ext cx="2651760" cy="1005840"/>
          </a:xfrm>
          <a:prstGeom prst="rect">
            <a:avLst/>
          </a:prstGeom>
          <a:solidFill>
            <a:srgbClr val="FFFFFF"/>
          </a:solidFill>
          <a:ln w="6350">
            <a:solidFill>
              <a:srgbClr val="E8EEF4"/>
            </a:solidFill>
            <a:prstDash val="solid"/>
          </a:ln>
        </p:spPr>
      </p:sp>
      <p:sp>
        <p:nvSpPr>
          <p:cNvPr id="23" name="Text 21"/>
          <p:cNvSpPr/>
          <p:nvPr/>
        </p:nvSpPr>
        <p:spPr>
          <a:xfrm>
            <a:off x="548640" y="3611880"/>
            <a:ext cx="2468880" cy="731520"/>
          </a:xfrm>
          <a:prstGeom prst="rect">
            <a:avLst/>
          </a:prstGeom>
          <a:noFill/>
          <a:ln/>
        </p:spPr>
        <p:txBody>
          <a:bodyPr wrap="square"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Challenges could discourage me.</a:t>
            </a:r>
            <a:endParaRPr lang="en-US" sz="1100" dirty="0"/>
          </a:p>
        </p:txBody>
      </p:sp>
      <p:sp>
        <p:nvSpPr>
          <p:cNvPr id="24" name="Shape 22"/>
          <p:cNvSpPr/>
          <p:nvPr/>
        </p:nvSpPr>
        <p:spPr>
          <a:xfrm>
            <a:off x="3108960" y="3474720"/>
            <a:ext cx="2926080" cy="1005840"/>
          </a:xfrm>
          <a:prstGeom prst="rect">
            <a:avLst/>
          </a:prstGeom>
          <a:solidFill>
            <a:srgbClr val="FFFFFF"/>
          </a:solidFill>
          <a:ln w="6350">
            <a:solidFill>
              <a:srgbClr val="E8EEF4"/>
            </a:solidFill>
            <a:prstDash val="solid"/>
          </a:ln>
        </p:spPr>
      </p:sp>
      <p:sp>
        <p:nvSpPr>
          <p:cNvPr id="25" name="Text 23"/>
          <p:cNvSpPr/>
          <p:nvPr/>
        </p:nvSpPr>
        <p:spPr>
          <a:xfrm>
            <a:off x="3200400" y="3611880"/>
            <a:ext cx="2743200" cy="731520"/>
          </a:xfrm>
          <a:prstGeom prst="rect">
            <a:avLst/>
          </a:prstGeom>
          <a:noFill/>
          <a:ln/>
        </p:spPr>
        <p:txBody>
          <a:bodyPr wrap="square"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Faith and persistence help me continue.</a:t>
            </a:r>
            <a:endParaRPr lang="en-US" sz="1100" dirty="0"/>
          </a:p>
        </p:txBody>
      </p:sp>
      <p:sp>
        <p:nvSpPr>
          <p:cNvPr id="26" name="Shape 24"/>
          <p:cNvSpPr/>
          <p:nvPr/>
        </p:nvSpPr>
        <p:spPr>
          <a:xfrm>
            <a:off x="6035040" y="3474720"/>
            <a:ext cx="2651760" cy="1005840"/>
          </a:xfrm>
          <a:prstGeom prst="rect">
            <a:avLst/>
          </a:prstGeom>
          <a:solidFill>
            <a:srgbClr val="FFFFFF"/>
          </a:solidFill>
          <a:ln w="6350">
            <a:solidFill>
              <a:srgbClr val="E8EEF4"/>
            </a:solidFill>
            <a:prstDash val="solid"/>
          </a:ln>
        </p:spPr>
      </p:sp>
      <p:sp>
        <p:nvSpPr>
          <p:cNvPr id="27" name="Text 25"/>
          <p:cNvSpPr/>
          <p:nvPr/>
        </p:nvSpPr>
        <p:spPr>
          <a:xfrm>
            <a:off x="6126480" y="3611880"/>
            <a:ext cx="2468880" cy="731520"/>
          </a:xfrm>
          <a:prstGeom prst="rect">
            <a:avLst/>
          </a:prstGeom>
          <a:noFill/>
          <a:ln/>
        </p:spPr>
        <p:txBody>
          <a:bodyPr wrap="square"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I approach challenges as opportunities for growth.</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65D"/>
          </a:solidFill>
          <a:ln/>
        </p:spPr>
      </p:sp>
      <p:sp>
        <p:nvSpPr>
          <p:cNvPr id="3" name="Text 1"/>
          <p:cNvSpPr/>
          <p:nvPr/>
        </p:nvSpPr>
        <p:spPr>
          <a:xfrm>
            <a:off x="457200" y="137160"/>
            <a:ext cx="8229600" cy="3657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Professional Growth</a:t>
            </a:r>
            <a:endParaRPr lang="en-US" sz="2400" dirty="0"/>
          </a:p>
        </p:txBody>
      </p:sp>
      <p:sp>
        <p:nvSpPr>
          <p:cNvPr id="4" name="Shape 2"/>
          <p:cNvSpPr/>
          <p:nvPr/>
        </p:nvSpPr>
        <p:spPr>
          <a:xfrm>
            <a:off x="320040" y="914400"/>
            <a:ext cx="2743200" cy="1737360"/>
          </a:xfrm>
          <a:prstGeom prst="roundRect">
            <a:avLst>
              <a:gd name="adj" fmla="val 5263"/>
            </a:avLst>
          </a:prstGeom>
          <a:solidFill>
            <a:srgbClr val="FFFFFF"/>
          </a:solidFill>
          <a:ln/>
          <a:effectLst>
            <a:outerShdw blurRad="101600" dist="25400" dir="8100000" algn="bl" rotWithShape="0">
              <a:srgbClr val="000000">
                <a:alpha val="10000"/>
              </a:srgbClr>
            </a:outerShdw>
          </a:effectLst>
        </p:spPr>
      </p:sp>
      <p:sp>
        <p:nvSpPr>
          <p:cNvPr id="5" name="Shape 3"/>
          <p:cNvSpPr/>
          <p:nvPr/>
        </p:nvSpPr>
        <p:spPr>
          <a:xfrm>
            <a:off x="1325880" y="1097280"/>
            <a:ext cx="640080" cy="640080"/>
          </a:xfrm>
          <a:prstGeom prst="ellipse">
            <a:avLst/>
          </a:prstGeom>
          <a:solidFill>
            <a:srgbClr val="E8F1F8"/>
          </a:solidFill>
          <a:ln/>
        </p:spPr>
      </p:sp>
      <p:pic>
        <p:nvPicPr>
          <p:cNvPr id="6" name="Image 0" descr="preencoded.png"/>
          <p:cNvPicPr>
            <a:picLocks noChangeAspect="1"/>
          </p:cNvPicPr>
          <p:nvPr/>
        </p:nvPicPr>
        <p:blipFill>
          <a:blip r:embed="rId3"/>
          <a:stretch>
            <a:fillRect/>
          </a:stretch>
        </p:blipFill>
        <p:spPr>
          <a:xfrm>
            <a:off x="1463040" y="1234440"/>
            <a:ext cx="365760" cy="365760"/>
          </a:xfrm>
          <a:prstGeom prst="rect">
            <a:avLst/>
          </a:prstGeom>
        </p:spPr>
      </p:pic>
      <p:sp>
        <p:nvSpPr>
          <p:cNvPr id="7" name="Text 4"/>
          <p:cNvSpPr/>
          <p:nvPr/>
        </p:nvSpPr>
        <p:spPr>
          <a:xfrm>
            <a:off x="457200" y="1874520"/>
            <a:ext cx="2468880" cy="320040"/>
          </a:xfrm>
          <a:prstGeom prst="rect">
            <a:avLst/>
          </a:prstGeom>
          <a:noFill/>
          <a:ln/>
        </p:spPr>
        <p:txBody>
          <a:bodyPr wrap="square" lIns="0" tIns="0" rIns="0" bIns="0" rtlCol="0" anchor="ctr"/>
          <a:lstStyle/>
          <a:p>
            <a:pPr marL="0" indent="0" algn="ctr">
              <a:buNone/>
            </a:pPr>
            <a:r>
              <a:rPr lang="en-US" sz="1200" b="1" dirty="0">
                <a:solidFill>
                  <a:srgbClr val="1B365D"/>
                </a:solidFill>
                <a:latin typeface="Arial" pitchFamily="34" charset="0"/>
                <a:ea typeface="Arial" pitchFamily="34" charset="-122"/>
                <a:cs typeface="Arial" pitchFamily="34" charset="-120"/>
              </a:rPr>
              <a:t>Cloud &amp; IT Infrastructure</a:t>
            </a:r>
            <a:endParaRPr lang="en-US" sz="1200" dirty="0"/>
          </a:p>
        </p:txBody>
      </p:sp>
      <p:sp>
        <p:nvSpPr>
          <p:cNvPr id="8" name="Text 5"/>
          <p:cNvSpPr/>
          <p:nvPr/>
        </p:nvSpPr>
        <p:spPr>
          <a:xfrm>
            <a:off x="457200" y="2194560"/>
            <a:ext cx="2468880" cy="365760"/>
          </a:xfrm>
          <a:prstGeom prst="rect">
            <a:avLst/>
          </a:prstGeom>
          <a:noFill/>
          <a:ln/>
        </p:spPr>
        <p:txBody>
          <a:bodyPr wrap="square" lIns="0" tIns="0" rIns="0" bIns="0"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Improved knowledge of cloud computing and IT systems.</a:t>
            </a:r>
            <a:endParaRPr lang="en-US" sz="1100" dirty="0"/>
          </a:p>
        </p:txBody>
      </p:sp>
      <p:sp>
        <p:nvSpPr>
          <p:cNvPr id="9" name="Shape 6"/>
          <p:cNvSpPr/>
          <p:nvPr/>
        </p:nvSpPr>
        <p:spPr>
          <a:xfrm>
            <a:off x="3246120" y="914400"/>
            <a:ext cx="2743200" cy="1737360"/>
          </a:xfrm>
          <a:prstGeom prst="roundRect">
            <a:avLst>
              <a:gd name="adj" fmla="val 5263"/>
            </a:avLst>
          </a:prstGeom>
          <a:solidFill>
            <a:srgbClr val="FFFFFF"/>
          </a:solidFill>
          <a:ln/>
          <a:effectLst>
            <a:outerShdw blurRad="101600" dist="25400" dir="8100000" algn="bl" rotWithShape="0">
              <a:srgbClr val="000000">
                <a:alpha val="10000"/>
              </a:srgbClr>
            </a:outerShdw>
          </a:effectLst>
        </p:spPr>
      </p:sp>
      <p:sp>
        <p:nvSpPr>
          <p:cNvPr id="10" name="Shape 7"/>
          <p:cNvSpPr/>
          <p:nvPr/>
        </p:nvSpPr>
        <p:spPr>
          <a:xfrm>
            <a:off x="4251960" y="1097280"/>
            <a:ext cx="640080" cy="640080"/>
          </a:xfrm>
          <a:prstGeom prst="ellipse">
            <a:avLst/>
          </a:prstGeom>
          <a:solidFill>
            <a:srgbClr val="E8F1F8"/>
          </a:solidFill>
          <a:ln/>
        </p:spPr>
      </p:sp>
      <p:pic>
        <p:nvPicPr>
          <p:cNvPr id="11" name="Image 1" descr="preencoded.png"/>
          <p:cNvPicPr>
            <a:picLocks noChangeAspect="1"/>
          </p:cNvPicPr>
          <p:nvPr/>
        </p:nvPicPr>
        <p:blipFill>
          <a:blip r:embed="rId4"/>
          <a:stretch>
            <a:fillRect/>
          </a:stretch>
        </p:blipFill>
        <p:spPr>
          <a:xfrm>
            <a:off x="4389120" y="1234440"/>
            <a:ext cx="365760" cy="365760"/>
          </a:xfrm>
          <a:prstGeom prst="rect">
            <a:avLst/>
          </a:prstGeom>
        </p:spPr>
      </p:pic>
      <p:sp>
        <p:nvSpPr>
          <p:cNvPr id="12" name="Text 8"/>
          <p:cNvSpPr/>
          <p:nvPr/>
        </p:nvSpPr>
        <p:spPr>
          <a:xfrm>
            <a:off x="3383280" y="1874520"/>
            <a:ext cx="2468880" cy="320040"/>
          </a:xfrm>
          <a:prstGeom prst="rect">
            <a:avLst/>
          </a:prstGeom>
          <a:noFill/>
          <a:ln/>
        </p:spPr>
        <p:txBody>
          <a:bodyPr wrap="square" lIns="0" tIns="0" rIns="0" bIns="0" rtlCol="0" anchor="ctr"/>
          <a:lstStyle/>
          <a:p>
            <a:pPr marL="0" indent="0" algn="ctr">
              <a:buNone/>
            </a:pPr>
            <a:r>
              <a:rPr lang="en-US" sz="1200" b="1" dirty="0">
                <a:solidFill>
                  <a:srgbClr val="1B365D"/>
                </a:solidFill>
                <a:latin typeface="Arial" pitchFamily="34" charset="0"/>
                <a:ea typeface="Arial" pitchFamily="34" charset="-122"/>
                <a:cs typeface="Arial" pitchFamily="34" charset="-120"/>
              </a:rPr>
              <a:t>Cybersecurity Awareness</a:t>
            </a:r>
            <a:endParaRPr lang="en-US" sz="1200" dirty="0"/>
          </a:p>
        </p:txBody>
      </p:sp>
      <p:sp>
        <p:nvSpPr>
          <p:cNvPr id="13" name="Text 9"/>
          <p:cNvSpPr/>
          <p:nvPr/>
        </p:nvSpPr>
        <p:spPr>
          <a:xfrm>
            <a:off x="3383280" y="2194560"/>
            <a:ext cx="2468880" cy="365760"/>
          </a:xfrm>
          <a:prstGeom prst="rect">
            <a:avLst/>
          </a:prstGeom>
          <a:noFill/>
          <a:ln/>
        </p:spPr>
        <p:txBody>
          <a:bodyPr wrap="square" lIns="0" tIns="0" rIns="0" bIns="0"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Strengthened understanding of data protection and security principles.</a:t>
            </a:r>
            <a:endParaRPr lang="en-US" sz="1100" dirty="0"/>
          </a:p>
        </p:txBody>
      </p:sp>
      <p:sp>
        <p:nvSpPr>
          <p:cNvPr id="14" name="Shape 10"/>
          <p:cNvSpPr/>
          <p:nvPr/>
        </p:nvSpPr>
        <p:spPr>
          <a:xfrm>
            <a:off x="6172200" y="914400"/>
            <a:ext cx="2743200" cy="1737360"/>
          </a:xfrm>
          <a:prstGeom prst="roundRect">
            <a:avLst>
              <a:gd name="adj" fmla="val 5263"/>
            </a:avLst>
          </a:prstGeom>
          <a:solidFill>
            <a:srgbClr val="FFFFFF"/>
          </a:solidFill>
          <a:ln/>
          <a:effectLst>
            <a:outerShdw blurRad="101600" dist="25400" dir="8100000" algn="bl" rotWithShape="0">
              <a:srgbClr val="000000">
                <a:alpha val="10000"/>
              </a:srgbClr>
            </a:outerShdw>
          </a:effectLst>
        </p:spPr>
      </p:sp>
      <p:sp>
        <p:nvSpPr>
          <p:cNvPr id="15" name="Shape 11"/>
          <p:cNvSpPr/>
          <p:nvPr/>
        </p:nvSpPr>
        <p:spPr>
          <a:xfrm>
            <a:off x="7178040" y="1097280"/>
            <a:ext cx="640080" cy="640080"/>
          </a:xfrm>
          <a:prstGeom prst="ellipse">
            <a:avLst/>
          </a:prstGeom>
          <a:solidFill>
            <a:srgbClr val="E8F1F8"/>
          </a:solidFill>
          <a:ln/>
        </p:spPr>
      </p:sp>
      <p:pic>
        <p:nvPicPr>
          <p:cNvPr id="16" name="Image 2" descr="preencoded.png"/>
          <p:cNvPicPr>
            <a:picLocks noChangeAspect="1"/>
          </p:cNvPicPr>
          <p:nvPr/>
        </p:nvPicPr>
        <p:blipFill>
          <a:blip r:embed="rId5"/>
          <a:stretch>
            <a:fillRect/>
          </a:stretch>
        </p:blipFill>
        <p:spPr>
          <a:xfrm>
            <a:off x="7315200" y="1234440"/>
            <a:ext cx="365760" cy="365760"/>
          </a:xfrm>
          <a:prstGeom prst="rect">
            <a:avLst/>
          </a:prstGeom>
        </p:spPr>
      </p:pic>
      <p:sp>
        <p:nvSpPr>
          <p:cNvPr id="17" name="Text 12"/>
          <p:cNvSpPr/>
          <p:nvPr/>
        </p:nvSpPr>
        <p:spPr>
          <a:xfrm>
            <a:off x="6309360" y="1874520"/>
            <a:ext cx="2468880" cy="320040"/>
          </a:xfrm>
          <a:prstGeom prst="rect">
            <a:avLst/>
          </a:prstGeom>
          <a:noFill/>
          <a:ln/>
        </p:spPr>
        <p:txBody>
          <a:bodyPr wrap="square" lIns="0" tIns="0" rIns="0" bIns="0" rtlCol="0" anchor="ctr"/>
          <a:lstStyle/>
          <a:p>
            <a:pPr marL="0" indent="0" algn="ctr">
              <a:buNone/>
            </a:pPr>
            <a:r>
              <a:rPr lang="en-US" sz="1200" b="1" dirty="0">
                <a:solidFill>
                  <a:srgbClr val="1B365D"/>
                </a:solidFill>
                <a:latin typeface="Arial" pitchFamily="34" charset="0"/>
                <a:ea typeface="Arial" pitchFamily="34" charset="-122"/>
                <a:cs typeface="Arial" pitchFamily="34" charset="-120"/>
              </a:rPr>
              <a:t>Problem-Solving</a:t>
            </a:r>
            <a:endParaRPr lang="en-US" sz="1200" dirty="0"/>
          </a:p>
        </p:txBody>
      </p:sp>
      <p:sp>
        <p:nvSpPr>
          <p:cNvPr id="18" name="Text 13"/>
          <p:cNvSpPr/>
          <p:nvPr/>
        </p:nvSpPr>
        <p:spPr>
          <a:xfrm>
            <a:off x="6309360" y="2194560"/>
            <a:ext cx="2468880" cy="365760"/>
          </a:xfrm>
          <a:prstGeom prst="rect">
            <a:avLst/>
          </a:prstGeom>
          <a:noFill/>
          <a:ln/>
        </p:spPr>
        <p:txBody>
          <a:bodyPr wrap="square" lIns="0" tIns="0" rIns="0" bIns="0"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Developed research, analytical, and systematic problem-solving skills.</a:t>
            </a:r>
            <a:endParaRPr lang="en-US" sz="1100" dirty="0"/>
          </a:p>
        </p:txBody>
      </p:sp>
      <p:sp>
        <p:nvSpPr>
          <p:cNvPr id="19" name="Shape 14"/>
          <p:cNvSpPr/>
          <p:nvPr/>
        </p:nvSpPr>
        <p:spPr>
          <a:xfrm>
            <a:off x="320040" y="2834640"/>
            <a:ext cx="2743200" cy="1737360"/>
          </a:xfrm>
          <a:prstGeom prst="roundRect">
            <a:avLst>
              <a:gd name="adj" fmla="val 5263"/>
            </a:avLst>
          </a:prstGeom>
          <a:solidFill>
            <a:srgbClr val="FFFFFF"/>
          </a:solidFill>
          <a:ln/>
          <a:effectLst>
            <a:outerShdw blurRad="101600" dist="25400" dir="8100000" algn="bl" rotWithShape="0">
              <a:srgbClr val="000000">
                <a:alpha val="10000"/>
              </a:srgbClr>
            </a:outerShdw>
          </a:effectLst>
        </p:spPr>
      </p:sp>
      <p:sp>
        <p:nvSpPr>
          <p:cNvPr id="20" name="Shape 15"/>
          <p:cNvSpPr/>
          <p:nvPr/>
        </p:nvSpPr>
        <p:spPr>
          <a:xfrm>
            <a:off x="1325880" y="3017520"/>
            <a:ext cx="640080" cy="640080"/>
          </a:xfrm>
          <a:prstGeom prst="ellipse">
            <a:avLst/>
          </a:prstGeom>
          <a:solidFill>
            <a:srgbClr val="E8F1F8"/>
          </a:solidFill>
          <a:ln/>
        </p:spPr>
      </p:sp>
      <p:pic>
        <p:nvPicPr>
          <p:cNvPr id="21" name="Image 3" descr="preencoded.png"/>
          <p:cNvPicPr>
            <a:picLocks noChangeAspect="1"/>
          </p:cNvPicPr>
          <p:nvPr/>
        </p:nvPicPr>
        <p:blipFill>
          <a:blip r:embed="rId6"/>
          <a:stretch>
            <a:fillRect/>
          </a:stretch>
        </p:blipFill>
        <p:spPr>
          <a:xfrm>
            <a:off x="1463040" y="3154680"/>
            <a:ext cx="365760" cy="365760"/>
          </a:xfrm>
          <a:prstGeom prst="rect">
            <a:avLst/>
          </a:prstGeom>
        </p:spPr>
      </p:pic>
      <p:sp>
        <p:nvSpPr>
          <p:cNvPr id="22" name="Text 16"/>
          <p:cNvSpPr/>
          <p:nvPr/>
        </p:nvSpPr>
        <p:spPr>
          <a:xfrm>
            <a:off x="457200" y="3794760"/>
            <a:ext cx="2468880" cy="320040"/>
          </a:xfrm>
          <a:prstGeom prst="rect">
            <a:avLst/>
          </a:prstGeom>
          <a:noFill/>
          <a:ln/>
        </p:spPr>
        <p:txBody>
          <a:bodyPr wrap="square" lIns="0" tIns="0" rIns="0" bIns="0" rtlCol="0" anchor="ctr"/>
          <a:lstStyle/>
          <a:p>
            <a:pPr marL="0" indent="0" algn="ctr">
              <a:buNone/>
            </a:pPr>
            <a:r>
              <a:rPr lang="en-US" sz="1200" b="1" dirty="0">
                <a:solidFill>
                  <a:srgbClr val="1B365D"/>
                </a:solidFill>
                <a:latin typeface="Arial" pitchFamily="34" charset="0"/>
                <a:ea typeface="Arial" pitchFamily="34" charset="-122"/>
                <a:cs typeface="Arial" pitchFamily="34" charset="-120"/>
              </a:rPr>
              <a:t>Technical Communication</a:t>
            </a:r>
            <a:endParaRPr lang="en-US" sz="1200" dirty="0"/>
          </a:p>
        </p:txBody>
      </p:sp>
      <p:sp>
        <p:nvSpPr>
          <p:cNvPr id="23" name="Text 17"/>
          <p:cNvSpPr/>
          <p:nvPr/>
        </p:nvSpPr>
        <p:spPr>
          <a:xfrm>
            <a:off x="457200" y="4114800"/>
            <a:ext cx="2468880" cy="365760"/>
          </a:xfrm>
          <a:prstGeom prst="rect">
            <a:avLst/>
          </a:prstGeom>
          <a:noFill/>
          <a:ln/>
        </p:spPr>
        <p:txBody>
          <a:bodyPr wrap="square" lIns="0" tIns="0" rIns="0" bIns="0"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Improved ability to explain complex technical ideas clearly.</a:t>
            </a:r>
            <a:endParaRPr lang="en-US" sz="1100" dirty="0"/>
          </a:p>
        </p:txBody>
      </p:sp>
      <p:sp>
        <p:nvSpPr>
          <p:cNvPr id="24" name="Shape 18"/>
          <p:cNvSpPr/>
          <p:nvPr/>
        </p:nvSpPr>
        <p:spPr>
          <a:xfrm>
            <a:off x="3246120" y="2834640"/>
            <a:ext cx="2743200" cy="1737360"/>
          </a:xfrm>
          <a:prstGeom prst="roundRect">
            <a:avLst>
              <a:gd name="adj" fmla="val 5263"/>
            </a:avLst>
          </a:prstGeom>
          <a:solidFill>
            <a:srgbClr val="FFFFFF"/>
          </a:solidFill>
          <a:ln/>
          <a:effectLst>
            <a:outerShdw blurRad="101600" dist="25400" dir="8100000" algn="bl" rotWithShape="0">
              <a:srgbClr val="000000">
                <a:alpha val="10000"/>
              </a:srgbClr>
            </a:outerShdw>
          </a:effectLst>
        </p:spPr>
      </p:sp>
      <p:sp>
        <p:nvSpPr>
          <p:cNvPr id="25" name="Shape 19"/>
          <p:cNvSpPr/>
          <p:nvPr/>
        </p:nvSpPr>
        <p:spPr>
          <a:xfrm>
            <a:off x="4251960" y="3017520"/>
            <a:ext cx="640080" cy="640080"/>
          </a:xfrm>
          <a:prstGeom prst="ellipse">
            <a:avLst/>
          </a:prstGeom>
          <a:solidFill>
            <a:srgbClr val="E8F1F8"/>
          </a:solidFill>
          <a:ln/>
        </p:spPr>
      </p:sp>
      <p:pic>
        <p:nvPicPr>
          <p:cNvPr id="26" name="Image 4" descr="preencoded.png"/>
          <p:cNvPicPr>
            <a:picLocks noChangeAspect="1"/>
          </p:cNvPicPr>
          <p:nvPr/>
        </p:nvPicPr>
        <p:blipFill>
          <a:blip r:embed="rId7"/>
          <a:stretch>
            <a:fillRect/>
          </a:stretch>
        </p:blipFill>
        <p:spPr>
          <a:xfrm>
            <a:off x="4389120" y="3154680"/>
            <a:ext cx="365760" cy="365760"/>
          </a:xfrm>
          <a:prstGeom prst="rect">
            <a:avLst/>
          </a:prstGeom>
        </p:spPr>
      </p:pic>
      <p:sp>
        <p:nvSpPr>
          <p:cNvPr id="27" name="Text 20"/>
          <p:cNvSpPr/>
          <p:nvPr/>
        </p:nvSpPr>
        <p:spPr>
          <a:xfrm>
            <a:off x="3383280" y="3794760"/>
            <a:ext cx="2468880" cy="320040"/>
          </a:xfrm>
          <a:prstGeom prst="rect">
            <a:avLst/>
          </a:prstGeom>
          <a:noFill/>
          <a:ln/>
        </p:spPr>
        <p:txBody>
          <a:bodyPr wrap="square" lIns="0" tIns="0" rIns="0" bIns="0" rtlCol="0" anchor="ctr"/>
          <a:lstStyle/>
          <a:p>
            <a:pPr marL="0" indent="0" algn="ctr">
              <a:buNone/>
            </a:pPr>
            <a:r>
              <a:rPr lang="en-US" sz="1200" b="1" dirty="0">
                <a:solidFill>
                  <a:srgbClr val="1B365D"/>
                </a:solidFill>
                <a:latin typeface="Arial" pitchFamily="34" charset="0"/>
                <a:ea typeface="Arial" pitchFamily="34" charset="-122"/>
                <a:cs typeface="Arial" pitchFamily="34" charset="-120"/>
              </a:rPr>
              <a:t>Ethical Evaluation</a:t>
            </a:r>
            <a:endParaRPr lang="en-US" sz="1200" dirty="0"/>
          </a:p>
        </p:txBody>
      </p:sp>
      <p:sp>
        <p:nvSpPr>
          <p:cNvPr id="28" name="Text 21"/>
          <p:cNvSpPr/>
          <p:nvPr/>
        </p:nvSpPr>
        <p:spPr>
          <a:xfrm>
            <a:off x="3383280" y="4114800"/>
            <a:ext cx="2468880" cy="365760"/>
          </a:xfrm>
          <a:prstGeom prst="rect">
            <a:avLst/>
          </a:prstGeom>
          <a:noFill/>
          <a:ln/>
        </p:spPr>
        <p:txBody>
          <a:bodyPr wrap="square" lIns="0" tIns="0" rIns="0" bIns="0"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Learned to assess solutions for security, privacy, reliability, and ethics.</a:t>
            </a:r>
            <a:endParaRPr lang="en-US" sz="1100" dirty="0"/>
          </a:p>
        </p:txBody>
      </p:sp>
      <p:sp>
        <p:nvSpPr>
          <p:cNvPr id="29" name="Shape 22"/>
          <p:cNvSpPr/>
          <p:nvPr/>
        </p:nvSpPr>
        <p:spPr>
          <a:xfrm>
            <a:off x="6172200" y="2834640"/>
            <a:ext cx="2743200" cy="1737360"/>
          </a:xfrm>
          <a:prstGeom prst="roundRect">
            <a:avLst>
              <a:gd name="adj" fmla="val 5263"/>
            </a:avLst>
          </a:prstGeom>
          <a:solidFill>
            <a:srgbClr val="FFFFFF"/>
          </a:solidFill>
          <a:ln/>
          <a:effectLst>
            <a:outerShdw blurRad="101600" dist="25400" dir="8100000" algn="bl" rotWithShape="0">
              <a:srgbClr val="000000">
                <a:alpha val="10000"/>
              </a:srgbClr>
            </a:outerShdw>
          </a:effectLst>
        </p:spPr>
      </p:sp>
      <p:sp>
        <p:nvSpPr>
          <p:cNvPr id="30" name="Shape 23"/>
          <p:cNvSpPr/>
          <p:nvPr/>
        </p:nvSpPr>
        <p:spPr>
          <a:xfrm>
            <a:off x="7178040" y="3017520"/>
            <a:ext cx="640080" cy="640080"/>
          </a:xfrm>
          <a:prstGeom prst="ellipse">
            <a:avLst/>
          </a:prstGeom>
          <a:solidFill>
            <a:srgbClr val="E8F1F8"/>
          </a:solidFill>
          <a:ln/>
        </p:spPr>
      </p:sp>
      <p:pic>
        <p:nvPicPr>
          <p:cNvPr id="31" name="Image 5" descr="preencoded.png"/>
          <p:cNvPicPr>
            <a:picLocks noChangeAspect="1"/>
          </p:cNvPicPr>
          <p:nvPr/>
        </p:nvPicPr>
        <p:blipFill>
          <a:blip r:embed="rId8"/>
          <a:stretch>
            <a:fillRect/>
          </a:stretch>
        </p:blipFill>
        <p:spPr>
          <a:xfrm>
            <a:off x="7315200" y="3154680"/>
            <a:ext cx="365760" cy="365760"/>
          </a:xfrm>
          <a:prstGeom prst="rect">
            <a:avLst/>
          </a:prstGeom>
        </p:spPr>
      </p:pic>
      <p:sp>
        <p:nvSpPr>
          <p:cNvPr id="32" name="Text 24"/>
          <p:cNvSpPr/>
          <p:nvPr/>
        </p:nvSpPr>
        <p:spPr>
          <a:xfrm>
            <a:off x="6309360" y="3794760"/>
            <a:ext cx="2468880" cy="320040"/>
          </a:xfrm>
          <a:prstGeom prst="rect">
            <a:avLst/>
          </a:prstGeom>
          <a:noFill/>
          <a:ln/>
        </p:spPr>
        <p:txBody>
          <a:bodyPr wrap="square" lIns="0" tIns="0" rIns="0" bIns="0" rtlCol="0" anchor="ctr"/>
          <a:lstStyle/>
          <a:p>
            <a:pPr marL="0" indent="0" algn="ctr">
              <a:buNone/>
            </a:pPr>
            <a:r>
              <a:rPr lang="en-US" sz="1200" b="1" dirty="0">
                <a:solidFill>
                  <a:srgbClr val="1B365D"/>
                </a:solidFill>
                <a:latin typeface="Arial" pitchFamily="34" charset="0"/>
                <a:ea typeface="Arial" pitchFamily="34" charset="-122"/>
                <a:cs typeface="Arial" pitchFamily="34" charset="-120"/>
              </a:rPr>
              <a:t>Project Planning</a:t>
            </a:r>
            <a:endParaRPr lang="en-US" sz="1200" dirty="0"/>
          </a:p>
        </p:txBody>
      </p:sp>
      <p:sp>
        <p:nvSpPr>
          <p:cNvPr id="33" name="Text 25"/>
          <p:cNvSpPr/>
          <p:nvPr/>
        </p:nvSpPr>
        <p:spPr>
          <a:xfrm>
            <a:off x="6309360" y="4114800"/>
            <a:ext cx="2468880" cy="365760"/>
          </a:xfrm>
          <a:prstGeom prst="rect">
            <a:avLst/>
          </a:prstGeom>
          <a:noFill/>
          <a:ln/>
        </p:spPr>
        <p:txBody>
          <a:bodyPr wrap="square" lIns="0" tIns="0" rIns="0" bIns="0" rtlCol="0" anchor="ctr"/>
          <a:lstStyle/>
          <a:p>
            <a:pPr marL="0" indent="0" algn="ctr">
              <a:buNone/>
            </a:pPr>
            <a:r>
              <a:rPr lang="en-US" sz="1100" dirty="0">
                <a:solidFill>
                  <a:srgbClr val="1A2332"/>
                </a:solidFill>
                <a:latin typeface="Arial" pitchFamily="34" charset="0"/>
                <a:ea typeface="Arial" pitchFamily="34" charset="-122"/>
                <a:cs typeface="Arial" pitchFamily="34" charset="-120"/>
              </a:rPr>
              <a:t>Improved documentation, planning, and structured project skills.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65D"/>
          </a:solidFill>
          <a:ln/>
        </p:spPr>
      </p:sp>
      <p:sp>
        <p:nvSpPr>
          <p:cNvPr id="3" name="Text 1"/>
          <p:cNvSpPr/>
          <p:nvPr/>
        </p:nvSpPr>
        <p:spPr>
          <a:xfrm>
            <a:off x="457200" y="137160"/>
            <a:ext cx="8229600" cy="3657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Connecting Faith and Profession</a:t>
            </a:r>
            <a:endParaRPr lang="en-US" sz="2400" dirty="0"/>
          </a:p>
        </p:txBody>
      </p:sp>
      <p:sp>
        <p:nvSpPr>
          <p:cNvPr id="4" name="Shape 2"/>
          <p:cNvSpPr/>
          <p:nvPr/>
        </p:nvSpPr>
        <p:spPr>
          <a:xfrm>
            <a:off x="365760" y="1188720"/>
            <a:ext cx="2011680" cy="2560320"/>
          </a:xfrm>
          <a:prstGeom prst="roundRect">
            <a:avLst>
              <a:gd name="adj" fmla="val 4545"/>
            </a:avLst>
          </a:prstGeom>
          <a:solidFill>
            <a:srgbClr val="FFFFFF"/>
          </a:solidFill>
          <a:ln/>
          <a:effectLst>
            <a:outerShdw blurRad="101600" dist="25400" dir="8100000" algn="bl" rotWithShape="0">
              <a:srgbClr val="000000">
                <a:alpha val="10000"/>
              </a:srgbClr>
            </a:outerShdw>
          </a:effectLst>
        </p:spPr>
      </p:sp>
      <p:sp>
        <p:nvSpPr>
          <p:cNvPr id="5" name="Shape 3"/>
          <p:cNvSpPr/>
          <p:nvPr/>
        </p:nvSpPr>
        <p:spPr>
          <a:xfrm>
            <a:off x="365760" y="1188720"/>
            <a:ext cx="2011680" cy="502920"/>
          </a:xfrm>
          <a:prstGeom prst="rect">
            <a:avLst/>
          </a:prstGeom>
          <a:solidFill>
            <a:srgbClr val="C9A227"/>
          </a:solidFill>
          <a:ln/>
        </p:spPr>
      </p:sp>
      <p:sp>
        <p:nvSpPr>
          <p:cNvPr id="6" name="Text 4"/>
          <p:cNvSpPr/>
          <p:nvPr/>
        </p:nvSpPr>
        <p:spPr>
          <a:xfrm>
            <a:off x="365760" y="1234440"/>
            <a:ext cx="20116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Faith</a:t>
            </a:r>
            <a:endParaRPr lang="en-US" sz="1300" dirty="0"/>
          </a:p>
        </p:txBody>
      </p:sp>
      <p:sp>
        <p:nvSpPr>
          <p:cNvPr id="7" name="Text 5"/>
          <p:cNvSpPr/>
          <p:nvPr/>
        </p:nvSpPr>
        <p:spPr>
          <a:xfrm>
            <a:off x="457200" y="1920240"/>
            <a:ext cx="1828800" cy="1554480"/>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Following Christ's example</a:t>
            </a:r>
            <a:endParaRPr lang="en-US" sz="1200" dirty="0"/>
          </a:p>
        </p:txBody>
      </p:sp>
      <p:sp>
        <p:nvSpPr>
          <p:cNvPr id="8" name="Text 6"/>
          <p:cNvSpPr/>
          <p:nvPr/>
        </p:nvSpPr>
        <p:spPr>
          <a:xfrm>
            <a:off x="2240280" y="2194560"/>
            <a:ext cx="365760" cy="365760"/>
          </a:xfrm>
          <a:prstGeom prst="rect">
            <a:avLst/>
          </a:prstGeom>
          <a:noFill/>
          <a:ln/>
        </p:spPr>
        <p:txBody>
          <a:bodyPr wrap="square" rtlCol="0" anchor="ctr"/>
          <a:lstStyle/>
          <a:p>
            <a:pPr marL="0" indent="0" algn="ctr">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9" name="Shape 7"/>
          <p:cNvSpPr/>
          <p:nvPr/>
        </p:nvSpPr>
        <p:spPr>
          <a:xfrm>
            <a:off x="2560320" y="1188720"/>
            <a:ext cx="2011680" cy="2560320"/>
          </a:xfrm>
          <a:prstGeom prst="roundRect">
            <a:avLst>
              <a:gd name="adj" fmla="val 4545"/>
            </a:avLst>
          </a:prstGeom>
          <a:solidFill>
            <a:srgbClr val="FFFFFF"/>
          </a:solidFill>
          <a:ln/>
          <a:effectLst>
            <a:outerShdw blurRad="101600" dist="25400" dir="8100000" algn="bl" rotWithShape="0">
              <a:srgbClr val="000000">
                <a:alpha val="10000"/>
              </a:srgbClr>
            </a:outerShdw>
          </a:effectLst>
        </p:spPr>
      </p:sp>
      <p:sp>
        <p:nvSpPr>
          <p:cNvPr id="10" name="Shape 8"/>
          <p:cNvSpPr/>
          <p:nvPr/>
        </p:nvSpPr>
        <p:spPr>
          <a:xfrm>
            <a:off x="2560320" y="1188720"/>
            <a:ext cx="2011680" cy="502920"/>
          </a:xfrm>
          <a:prstGeom prst="rect">
            <a:avLst/>
          </a:prstGeom>
          <a:solidFill>
            <a:srgbClr val="1B365D"/>
          </a:solidFill>
          <a:ln/>
        </p:spPr>
      </p:sp>
      <p:sp>
        <p:nvSpPr>
          <p:cNvPr id="11" name="Text 9"/>
          <p:cNvSpPr/>
          <p:nvPr/>
        </p:nvSpPr>
        <p:spPr>
          <a:xfrm>
            <a:off x="2560320" y="1234440"/>
            <a:ext cx="20116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Character</a:t>
            </a:r>
            <a:endParaRPr lang="en-US" sz="1300" dirty="0"/>
          </a:p>
        </p:txBody>
      </p:sp>
      <p:sp>
        <p:nvSpPr>
          <p:cNvPr id="12" name="Text 10"/>
          <p:cNvSpPr/>
          <p:nvPr/>
        </p:nvSpPr>
        <p:spPr>
          <a:xfrm>
            <a:off x="2651760" y="1920240"/>
            <a:ext cx="1828800" cy="1554480"/>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Integrity • Accountability</a:t>
            </a:r>
            <a:endParaRPr lang="en-US" sz="1200" dirty="0"/>
          </a:p>
          <a:p>
            <a:pPr marL="0" indent="0" algn="ctr">
              <a:buNone/>
            </a:pPr>
            <a:r>
              <a:rPr lang="en-US" sz="1200" dirty="0">
                <a:solidFill>
                  <a:srgbClr val="1A2332"/>
                </a:solidFill>
                <a:latin typeface="Arial" pitchFamily="34" charset="0"/>
                <a:ea typeface="Arial" pitchFamily="34" charset="-122"/>
                <a:cs typeface="Arial" pitchFamily="34" charset="-120"/>
              </a:rPr>
              <a:t>Humility • Service</a:t>
            </a:r>
            <a:endParaRPr lang="en-US" sz="1200" dirty="0"/>
          </a:p>
        </p:txBody>
      </p:sp>
      <p:sp>
        <p:nvSpPr>
          <p:cNvPr id="13" name="Text 11"/>
          <p:cNvSpPr/>
          <p:nvPr/>
        </p:nvSpPr>
        <p:spPr>
          <a:xfrm>
            <a:off x="4434840" y="2194560"/>
            <a:ext cx="365760" cy="365760"/>
          </a:xfrm>
          <a:prstGeom prst="rect">
            <a:avLst/>
          </a:prstGeom>
          <a:noFill/>
          <a:ln/>
        </p:spPr>
        <p:txBody>
          <a:bodyPr wrap="square" rtlCol="0" anchor="ctr"/>
          <a:lstStyle/>
          <a:p>
            <a:pPr marL="0" indent="0" algn="ctr">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4754880" y="1188720"/>
            <a:ext cx="2011680" cy="2560320"/>
          </a:xfrm>
          <a:prstGeom prst="roundRect">
            <a:avLst>
              <a:gd name="adj" fmla="val 4545"/>
            </a:avLst>
          </a:prstGeom>
          <a:solidFill>
            <a:srgbClr val="FFFFFF"/>
          </a:solidFill>
          <a:ln/>
          <a:effectLst>
            <a:outerShdw blurRad="101600" dist="25400" dir="8100000" algn="bl" rotWithShape="0">
              <a:srgbClr val="000000">
                <a:alpha val="10000"/>
              </a:srgbClr>
            </a:outerShdw>
          </a:effectLst>
        </p:spPr>
      </p:sp>
      <p:sp>
        <p:nvSpPr>
          <p:cNvPr id="15" name="Shape 13"/>
          <p:cNvSpPr/>
          <p:nvPr/>
        </p:nvSpPr>
        <p:spPr>
          <a:xfrm>
            <a:off x="4754880" y="1188720"/>
            <a:ext cx="2011680" cy="502920"/>
          </a:xfrm>
          <a:prstGeom prst="rect">
            <a:avLst/>
          </a:prstGeom>
          <a:solidFill>
            <a:srgbClr val="2E5A88"/>
          </a:solidFill>
          <a:ln/>
        </p:spPr>
      </p:sp>
      <p:sp>
        <p:nvSpPr>
          <p:cNvPr id="16" name="Text 14"/>
          <p:cNvSpPr/>
          <p:nvPr/>
        </p:nvSpPr>
        <p:spPr>
          <a:xfrm>
            <a:off x="4754880" y="1234440"/>
            <a:ext cx="20116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Professional</a:t>
            </a:r>
            <a:endParaRPr lang="en-US" sz="1300" dirty="0"/>
          </a:p>
          <a:p>
            <a:pPr marL="0" indent="0" algn="ctr">
              <a:buNone/>
            </a:pPr>
            <a:r>
              <a:rPr lang="en-US" sz="1300" b="1" dirty="0">
                <a:solidFill>
                  <a:srgbClr val="FFFFFF"/>
                </a:solidFill>
                <a:latin typeface="Arial" pitchFamily="34" charset="0"/>
                <a:ea typeface="Arial" pitchFamily="34" charset="-122"/>
                <a:cs typeface="Arial" pitchFamily="34" charset="-120"/>
              </a:rPr>
              <a:t>Practice</a:t>
            </a:r>
            <a:endParaRPr lang="en-US" sz="1300" dirty="0"/>
          </a:p>
        </p:txBody>
      </p:sp>
      <p:sp>
        <p:nvSpPr>
          <p:cNvPr id="17" name="Text 15"/>
          <p:cNvSpPr/>
          <p:nvPr/>
        </p:nvSpPr>
        <p:spPr>
          <a:xfrm>
            <a:off x="4846320" y="1920240"/>
            <a:ext cx="1828800" cy="1554480"/>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Ethical decisions</a:t>
            </a:r>
            <a:endParaRPr lang="en-US" sz="1200" dirty="0"/>
          </a:p>
          <a:p>
            <a:pPr marL="0" indent="0" algn="ctr">
              <a:buNone/>
            </a:pPr>
            <a:r>
              <a:rPr lang="en-US" sz="1200" dirty="0">
                <a:solidFill>
                  <a:srgbClr val="1A2332"/>
                </a:solidFill>
                <a:latin typeface="Arial" pitchFamily="34" charset="0"/>
                <a:ea typeface="Arial" pitchFamily="34" charset="-122"/>
                <a:cs typeface="Arial" pitchFamily="34" charset="-120"/>
              </a:rPr>
              <a:t>Responsible cybersecurity</a:t>
            </a:r>
            <a:endParaRPr lang="en-US" sz="1200" dirty="0"/>
          </a:p>
          <a:p>
            <a:pPr marL="0" indent="0" algn="ctr">
              <a:buNone/>
            </a:pPr>
            <a:r>
              <a:rPr lang="en-US" sz="1200" dirty="0">
                <a:solidFill>
                  <a:srgbClr val="1A2332"/>
                </a:solidFill>
                <a:latin typeface="Arial" pitchFamily="34" charset="0"/>
                <a:ea typeface="Arial" pitchFamily="34" charset="-122"/>
                <a:cs typeface="Arial" pitchFamily="34" charset="-120"/>
              </a:rPr>
              <a:t>Clear communication</a:t>
            </a:r>
            <a:endParaRPr lang="en-US" sz="1200" dirty="0"/>
          </a:p>
        </p:txBody>
      </p:sp>
      <p:sp>
        <p:nvSpPr>
          <p:cNvPr id="18" name="Text 16"/>
          <p:cNvSpPr/>
          <p:nvPr/>
        </p:nvSpPr>
        <p:spPr>
          <a:xfrm>
            <a:off x="6629400" y="2194560"/>
            <a:ext cx="365760" cy="365760"/>
          </a:xfrm>
          <a:prstGeom prst="rect">
            <a:avLst/>
          </a:prstGeom>
          <a:noFill/>
          <a:ln/>
        </p:spPr>
        <p:txBody>
          <a:bodyPr wrap="square" rtlCol="0" anchor="ctr"/>
          <a:lstStyle/>
          <a:p>
            <a:pPr marL="0" indent="0" algn="ctr">
              <a:buNone/>
            </a:pPr>
            <a:r>
              <a:rPr lang="en-US" sz="2200" dirty="0">
                <a:solidFill>
                  <a:srgbClr val="1B365D"/>
                </a:solidFill>
                <a:latin typeface="Arial" pitchFamily="34" charset="0"/>
                <a:ea typeface="Arial" pitchFamily="34" charset="-122"/>
                <a:cs typeface="Arial" pitchFamily="34" charset="-120"/>
              </a:rPr>
              <a:t>→</a:t>
            </a:r>
            <a:endParaRPr lang="en-US" sz="2200" dirty="0"/>
          </a:p>
        </p:txBody>
      </p:sp>
      <p:sp>
        <p:nvSpPr>
          <p:cNvPr id="19" name="Shape 17"/>
          <p:cNvSpPr/>
          <p:nvPr/>
        </p:nvSpPr>
        <p:spPr>
          <a:xfrm>
            <a:off x="6949440" y="1188720"/>
            <a:ext cx="2011680" cy="2560320"/>
          </a:xfrm>
          <a:prstGeom prst="roundRect">
            <a:avLst>
              <a:gd name="adj" fmla="val 4545"/>
            </a:avLst>
          </a:prstGeom>
          <a:solidFill>
            <a:srgbClr val="FFFFFF"/>
          </a:solidFill>
          <a:ln/>
          <a:effectLst>
            <a:outerShdw blurRad="101600" dist="25400" dir="8100000" algn="bl" rotWithShape="0">
              <a:srgbClr val="000000">
                <a:alpha val="10000"/>
              </a:srgbClr>
            </a:outerShdw>
          </a:effectLst>
        </p:spPr>
      </p:sp>
      <p:sp>
        <p:nvSpPr>
          <p:cNvPr id="20" name="Shape 18"/>
          <p:cNvSpPr/>
          <p:nvPr/>
        </p:nvSpPr>
        <p:spPr>
          <a:xfrm>
            <a:off x="6949440" y="1188720"/>
            <a:ext cx="2011680" cy="502920"/>
          </a:xfrm>
          <a:prstGeom prst="rect">
            <a:avLst/>
          </a:prstGeom>
          <a:solidFill>
            <a:srgbClr val="3D7EA6"/>
          </a:solidFill>
          <a:ln/>
        </p:spPr>
      </p:sp>
      <p:sp>
        <p:nvSpPr>
          <p:cNvPr id="21" name="Text 19"/>
          <p:cNvSpPr/>
          <p:nvPr/>
        </p:nvSpPr>
        <p:spPr>
          <a:xfrm>
            <a:off x="6949440" y="1234440"/>
            <a:ext cx="20116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Impact</a:t>
            </a:r>
            <a:endParaRPr lang="en-US" sz="1300" dirty="0"/>
          </a:p>
        </p:txBody>
      </p:sp>
      <p:sp>
        <p:nvSpPr>
          <p:cNvPr id="22" name="Text 20"/>
          <p:cNvSpPr/>
          <p:nvPr/>
        </p:nvSpPr>
        <p:spPr>
          <a:xfrm>
            <a:off x="7040880" y="1920240"/>
            <a:ext cx="1828800" cy="1554480"/>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Helping organizations</a:t>
            </a:r>
            <a:endParaRPr lang="en-US" sz="1200" dirty="0"/>
          </a:p>
          <a:p>
            <a:pPr marL="0" indent="0" algn="ctr">
              <a:buNone/>
            </a:pPr>
            <a:r>
              <a:rPr lang="en-US" sz="1200" dirty="0">
                <a:solidFill>
                  <a:srgbClr val="1A2332"/>
                </a:solidFill>
                <a:latin typeface="Arial" pitchFamily="34" charset="0"/>
                <a:ea typeface="Arial" pitchFamily="34" charset="-122"/>
                <a:cs typeface="Arial" pitchFamily="34" charset="-120"/>
              </a:rPr>
              <a:t>and people solve</a:t>
            </a:r>
            <a:endParaRPr lang="en-US" sz="1200" dirty="0"/>
          </a:p>
          <a:p>
            <a:pPr marL="0" indent="0" algn="ctr">
              <a:buNone/>
            </a:pPr>
            <a:r>
              <a:rPr lang="en-US" sz="1200" dirty="0">
                <a:solidFill>
                  <a:srgbClr val="1A2332"/>
                </a:solidFill>
                <a:latin typeface="Arial" pitchFamily="34" charset="0"/>
                <a:ea typeface="Arial" pitchFamily="34" charset="-122"/>
                <a:cs typeface="Arial" pitchFamily="34" charset="-120"/>
              </a:rPr>
              <a:t>problems safely</a:t>
            </a:r>
            <a:endParaRPr lang="en-US" sz="1200" dirty="0"/>
          </a:p>
        </p:txBody>
      </p:sp>
      <p:sp>
        <p:nvSpPr>
          <p:cNvPr id="23" name="Text 21"/>
          <p:cNvSpPr/>
          <p:nvPr/>
        </p:nvSpPr>
        <p:spPr>
          <a:xfrm>
            <a:off x="457200" y="4114800"/>
            <a:ext cx="8229600" cy="457200"/>
          </a:xfrm>
          <a:prstGeom prst="rect">
            <a:avLst/>
          </a:prstGeom>
          <a:noFill/>
          <a:ln/>
        </p:spPr>
        <p:txBody>
          <a:bodyPr wrap="square" rtlCol="0" anchor="ctr"/>
          <a:lstStyle/>
          <a:p>
            <a:pPr marL="0" indent="0" algn="ctr">
              <a:buNone/>
            </a:pPr>
            <a:r>
              <a:rPr lang="en-US" sz="1400" i="1" dirty="0">
                <a:solidFill>
                  <a:srgbClr val="1B365D"/>
                </a:solidFill>
                <a:latin typeface="Georgia" pitchFamily="34" charset="0"/>
                <a:ea typeface="Georgia" pitchFamily="34" charset="-122"/>
                <a:cs typeface="Georgia" pitchFamily="34" charset="-120"/>
              </a:rPr>
              <a:t>Faith shapes character. Character shapes professional practice. Practice creates lasting impact.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65D"/>
          </a:solidFill>
          <a:ln/>
        </p:spPr>
      </p:sp>
      <p:sp>
        <p:nvSpPr>
          <p:cNvPr id="3" name="Text 1"/>
          <p:cNvSpPr/>
          <p:nvPr/>
        </p:nvSpPr>
        <p:spPr>
          <a:xfrm>
            <a:off x="457200" y="137160"/>
            <a:ext cx="8229600" cy="3657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Ethical Technology &amp; Responsibility</a:t>
            </a:r>
            <a:endParaRPr lang="en-US" sz="2400" dirty="0"/>
          </a:p>
        </p:txBody>
      </p:sp>
      <p:sp>
        <p:nvSpPr>
          <p:cNvPr id="4" name="Text 2"/>
          <p:cNvSpPr/>
          <p:nvPr/>
        </p:nvSpPr>
        <p:spPr>
          <a:xfrm>
            <a:off x="457200" y="822960"/>
            <a:ext cx="8229600" cy="320040"/>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The CIA Triad — Technical Principles Rooted in Stewardship</a:t>
            </a:r>
            <a:endParaRPr lang="en-US" sz="1400" dirty="0"/>
          </a:p>
        </p:txBody>
      </p:sp>
      <p:sp>
        <p:nvSpPr>
          <p:cNvPr id="5" name="Shape 3"/>
          <p:cNvSpPr/>
          <p:nvPr/>
        </p:nvSpPr>
        <p:spPr>
          <a:xfrm>
            <a:off x="365760" y="1280160"/>
            <a:ext cx="2743200" cy="1828800"/>
          </a:xfrm>
          <a:prstGeom prst="roundRect">
            <a:avLst>
              <a:gd name="adj" fmla="val 5000"/>
            </a:avLst>
          </a:prstGeom>
          <a:solidFill>
            <a:srgbClr val="FFFFFF"/>
          </a:solidFill>
          <a:ln/>
          <a:effectLst>
            <a:outerShdw blurRad="101600" dist="25400" dir="8100000" algn="bl" rotWithShape="0">
              <a:srgbClr val="000000">
                <a:alpha val="10000"/>
              </a:srgbClr>
            </a:outerShdw>
          </a:effectLst>
        </p:spPr>
      </p:sp>
      <p:sp>
        <p:nvSpPr>
          <p:cNvPr id="6" name="Shape 4"/>
          <p:cNvSpPr/>
          <p:nvPr/>
        </p:nvSpPr>
        <p:spPr>
          <a:xfrm>
            <a:off x="365760" y="1280160"/>
            <a:ext cx="2743200" cy="411480"/>
          </a:xfrm>
          <a:prstGeom prst="rect">
            <a:avLst/>
          </a:prstGeom>
          <a:solidFill>
            <a:srgbClr val="1B365D"/>
          </a:solidFill>
          <a:ln/>
        </p:spPr>
      </p:sp>
      <p:sp>
        <p:nvSpPr>
          <p:cNvPr id="7" name="Text 5"/>
          <p:cNvSpPr/>
          <p:nvPr/>
        </p:nvSpPr>
        <p:spPr>
          <a:xfrm>
            <a:off x="365760" y="1325880"/>
            <a:ext cx="274320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Confidentiality</a:t>
            </a:r>
            <a:endParaRPr lang="en-US" sz="1400" dirty="0"/>
          </a:p>
        </p:txBody>
      </p:sp>
      <p:sp>
        <p:nvSpPr>
          <p:cNvPr id="8" name="Text 6"/>
          <p:cNvSpPr/>
          <p:nvPr/>
        </p:nvSpPr>
        <p:spPr>
          <a:xfrm>
            <a:off x="502920" y="1828800"/>
            <a:ext cx="2468880" cy="457200"/>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Protect people's information</a:t>
            </a:r>
            <a:endParaRPr lang="en-US" sz="1200" dirty="0"/>
          </a:p>
        </p:txBody>
      </p:sp>
      <p:sp>
        <p:nvSpPr>
          <p:cNvPr id="9" name="Shape 7"/>
          <p:cNvSpPr/>
          <p:nvPr/>
        </p:nvSpPr>
        <p:spPr>
          <a:xfrm>
            <a:off x="731520" y="2377440"/>
            <a:ext cx="2011680" cy="13716"/>
          </a:xfrm>
          <a:prstGeom prst="rect">
            <a:avLst/>
          </a:prstGeom>
          <a:solidFill>
            <a:srgbClr val="C9A227"/>
          </a:solidFill>
          <a:ln/>
        </p:spPr>
      </p:sp>
      <p:sp>
        <p:nvSpPr>
          <p:cNvPr id="10" name="Text 8"/>
          <p:cNvSpPr/>
          <p:nvPr/>
        </p:nvSpPr>
        <p:spPr>
          <a:xfrm>
            <a:off x="502920" y="2514600"/>
            <a:ext cx="2468880" cy="365760"/>
          </a:xfrm>
          <a:prstGeom prst="rect">
            <a:avLst/>
          </a:prstGeom>
          <a:noFill/>
          <a:ln/>
        </p:spPr>
        <p:txBody>
          <a:bodyPr wrap="square" rtlCol="0" anchor="ctr"/>
          <a:lstStyle/>
          <a:p>
            <a:pPr marL="0" indent="0" algn="ctr">
              <a:buNone/>
            </a:pPr>
            <a:r>
              <a:rPr lang="en-US" sz="1200" i="1" dirty="0">
                <a:solidFill>
                  <a:srgbClr val="2E5A88"/>
                </a:solidFill>
                <a:latin typeface="Georgia" pitchFamily="34" charset="0"/>
                <a:ea typeface="Georgia" pitchFamily="34" charset="-122"/>
                <a:cs typeface="Georgia" pitchFamily="34" charset="-120"/>
              </a:rPr>
              <a:t>Trustworthiness &amp; respect</a:t>
            </a:r>
            <a:endParaRPr lang="en-US" sz="1200" dirty="0"/>
          </a:p>
        </p:txBody>
      </p:sp>
      <p:sp>
        <p:nvSpPr>
          <p:cNvPr id="11" name="Shape 9"/>
          <p:cNvSpPr/>
          <p:nvPr/>
        </p:nvSpPr>
        <p:spPr>
          <a:xfrm>
            <a:off x="3246120" y="1280160"/>
            <a:ext cx="2743200" cy="1828800"/>
          </a:xfrm>
          <a:prstGeom prst="roundRect">
            <a:avLst>
              <a:gd name="adj" fmla="val 5000"/>
            </a:avLst>
          </a:prstGeom>
          <a:solidFill>
            <a:srgbClr val="FFFFFF"/>
          </a:solidFill>
          <a:ln/>
          <a:effectLst>
            <a:outerShdw blurRad="101600" dist="25400" dir="8100000" algn="bl" rotWithShape="0">
              <a:srgbClr val="000000">
                <a:alpha val="10000"/>
              </a:srgbClr>
            </a:outerShdw>
          </a:effectLst>
        </p:spPr>
      </p:sp>
      <p:sp>
        <p:nvSpPr>
          <p:cNvPr id="12" name="Shape 10"/>
          <p:cNvSpPr/>
          <p:nvPr/>
        </p:nvSpPr>
        <p:spPr>
          <a:xfrm>
            <a:off x="3246120" y="1280160"/>
            <a:ext cx="2743200" cy="411480"/>
          </a:xfrm>
          <a:prstGeom prst="rect">
            <a:avLst/>
          </a:prstGeom>
          <a:solidFill>
            <a:srgbClr val="1B365D"/>
          </a:solidFill>
          <a:ln/>
        </p:spPr>
      </p:sp>
      <p:sp>
        <p:nvSpPr>
          <p:cNvPr id="13" name="Text 11"/>
          <p:cNvSpPr/>
          <p:nvPr/>
        </p:nvSpPr>
        <p:spPr>
          <a:xfrm>
            <a:off x="3246120" y="1325880"/>
            <a:ext cx="274320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Integrity</a:t>
            </a:r>
            <a:endParaRPr lang="en-US" sz="1400" dirty="0"/>
          </a:p>
        </p:txBody>
      </p:sp>
      <p:sp>
        <p:nvSpPr>
          <p:cNvPr id="14" name="Text 12"/>
          <p:cNvSpPr/>
          <p:nvPr/>
        </p:nvSpPr>
        <p:spPr>
          <a:xfrm>
            <a:off x="3383280" y="1828800"/>
            <a:ext cx="2468880" cy="457200"/>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Maintain accurate &amp; trustworthy data</a:t>
            </a:r>
            <a:endParaRPr lang="en-US" sz="1200" dirty="0"/>
          </a:p>
        </p:txBody>
      </p:sp>
      <p:sp>
        <p:nvSpPr>
          <p:cNvPr id="15" name="Shape 13"/>
          <p:cNvSpPr/>
          <p:nvPr/>
        </p:nvSpPr>
        <p:spPr>
          <a:xfrm>
            <a:off x="3611880" y="2377440"/>
            <a:ext cx="2011680" cy="13716"/>
          </a:xfrm>
          <a:prstGeom prst="rect">
            <a:avLst/>
          </a:prstGeom>
          <a:solidFill>
            <a:srgbClr val="C9A227"/>
          </a:solidFill>
          <a:ln/>
        </p:spPr>
      </p:sp>
      <p:sp>
        <p:nvSpPr>
          <p:cNvPr id="16" name="Text 14"/>
          <p:cNvSpPr/>
          <p:nvPr/>
        </p:nvSpPr>
        <p:spPr>
          <a:xfrm>
            <a:off x="3383280" y="2514600"/>
            <a:ext cx="2468880" cy="365760"/>
          </a:xfrm>
          <a:prstGeom prst="rect">
            <a:avLst/>
          </a:prstGeom>
          <a:noFill/>
          <a:ln/>
        </p:spPr>
        <p:txBody>
          <a:bodyPr wrap="square" rtlCol="0" anchor="ctr"/>
          <a:lstStyle/>
          <a:p>
            <a:pPr marL="0" indent="0" algn="ctr">
              <a:buNone/>
            </a:pPr>
            <a:r>
              <a:rPr lang="en-US" sz="1200" i="1" dirty="0">
                <a:solidFill>
                  <a:srgbClr val="2E5A88"/>
                </a:solidFill>
                <a:latin typeface="Georgia" pitchFamily="34" charset="0"/>
                <a:ea typeface="Georgia" pitchFamily="34" charset="-122"/>
                <a:cs typeface="Georgia" pitchFamily="34" charset="-120"/>
              </a:rPr>
              <a:t>Honesty &amp; stewardship</a:t>
            </a:r>
            <a:endParaRPr lang="en-US" sz="1200" dirty="0"/>
          </a:p>
        </p:txBody>
      </p:sp>
      <p:sp>
        <p:nvSpPr>
          <p:cNvPr id="17" name="Shape 15"/>
          <p:cNvSpPr/>
          <p:nvPr/>
        </p:nvSpPr>
        <p:spPr>
          <a:xfrm>
            <a:off x="6126480" y="1280160"/>
            <a:ext cx="2743200" cy="1828800"/>
          </a:xfrm>
          <a:prstGeom prst="roundRect">
            <a:avLst>
              <a:gd name="adj" fmla="val 5000"/>
            </a:avLst>
          </a:prstGeom>
          <a:solidFill>
            <a:srgbClr val="FFFFFF"/>
          </a:solidFill>
          <a:ln/>
          <a:effectLst>
            <a:outerShdw blurRad="101600" dist="25400" dir="8100000" algn="bl" rotWithShape="0">
              <a:srgbClr val="000000">
                <a:alpha val="10000"/>
              </a:srgbClr>
            </a:outerShdw>
          </a:effectLst>
        </p:spPr>
      </p:sp>
      <p:sp>
        <p:nvSpPr>
          <p:cNvPr id="18" name="Shape 16"/>
          <p:cNvSpPr/>
          <p:nvPr/>
        </p:nvSpPr>
        <p:spPr>
          <a:xfrm>
            <a:off x="6126480" y="1280160"/>
            <a:ext cx="2743200" cy="411480"/>
          </a:xfrm>
          <a:prstGeom prst="rect">
            <a:avLst/>
          </a:prstGeom>
          <a:solidFill>
            <a:srgbClr val="1B365D"/>
          </a:solidFill>
          <a:ln/>
        </p:spPr>
      </p:sp>
      <p:sp>
        <p:nvSpPr>
          <p:cNvPr id="19" name="Text 17"/>
          <p:cNvSpPr/>
          <p:nvPr/>
        </p:nvSpPr>
        <p:spPr>
          <a:xfrm>
            <a:off x="6126480" y="1325880"/>
            <a:ext cx="274320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Availability</a:t>
            </a:r>
            <a:endParaRPr lang="en-US" sz="1400" dirty="0"/>
          </a:p>
        </p:txBody>
      </p:sp>
      <p:sp>
        <p:nvSpPr>
          <p:cNvPr id="20" name="Text 18"/>
          <p:cNvSpPr/>
          <p:nvPr/>
        </p:nvSpPr>
        <p:spPr>
          <a:xfrm>
            <a:off x="6263640" y="1828800"/>
            <a:ext cx="2468880" cy="457200"/>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Ensure systems remain accessible</a:t>
            </a:r>
            <a:endParaRPr lang="en-US" sz="1200" dirty="0"/>
          </a:p>
        </p:txBody>
      </p:sp>
      <p:sp>
        <p:nvSpPr>
          <p:cNvPr id="21" name="Shape 19"/>
          <p:cNvSpPr/>
          <p:nvPr/>
        </p:nvSpPr>
        <p:spPr>
          <a:xfrm>
            <a:off x="6492240" y="2377440"/>
            <a:ext cx="2011680" cy="13716"/>
          </a:xfrm>
          <a:prstGeom prst="rect">
            <a:avLst/>
          </a:prstGeom>
          <a:solidFill>
            <a:srgbClr val="C9A227"/>
          </a:solidFill>
          <a:ln/>
        </p:spPr>
      </p:sp>
      <p:sp>
        <p:nvSpPr>
          <p:cNvPr id="22" name="Text 20"/>
          <p:cNvSpPr/>
          <p:nvPr/>
        </p:nvSpPr>
        <p:spPr>
          <a:xfrm>
            <a:off x="6263640" y="2514600"/>
            <a:ext cx="2468880" cy="365760"/>
          </a:xfrm>
          <a:prstGeom prst="rect">
            <a:avLst/>
          </a:prstGeom>
          <a:noFill/>
          <a:ln/>
        </p:spPr>
        <p:txBody>
          <a:bodyPr wrap="square" rtlCol="0" anchor="ctr"/>
          <a:lstStyle/>
          <a:p>
            <a:pPr marL="0" indent="0" algn="ctr">
              <a:buNone/>
            </a:pPr>
            <a:r>
              <a:rPr lang="en-US" sz="1200" i="1" dirty="0">
                <a:solidFill>
                  <a:srgbClr val="2E5A88"/>
                </a:solidFill>
                <a:latin typeface="Georgia" pitchFamily="34" charset="0"/>
                <a:ea typeface="Georgia" pitchFamily="34" charset="-122"/>
                <a:cs typeface="Georgia" pitchFamily="34" charset="-120"/>
              </a:rPr>
              <a:t>Service &amp; reliability</a:t>
            </a:r>
            <a:endParaRPr lang="en-US" sz="1200" dirty="0"/>
          </a:p>
        </p:txBody>
      </p:sp>
      <p:sp>
        <p:nvSpPr>
          <p:cNvPr id="23" name="Shape 21"/>
          <p:cNvSpPr/>
          <p:nvPr/>
        </p:nvSpPr>
        <p:spPr>
          <a:xfrm>
            <a:off x="365760" y="3383280"/>
            <a:ext cx="8412480" cy="1371600"/>
          </a:xfrm>
          <a:prstGeom prst="roundRect">
            <a:avLst>
              <a:gd name="adj" fmla="val 6667"/>
            </a:avLst>
          </a:prstGeom>
          <a:solidFill>
            <a:srgbClr val="E8F1F8"/>
          </a:solidFill>
          <a:ln/>
        </p:spPr>
      </p:sp>
      <p:sp>
        <p:nvSpPr>
          <p:cNvPr id="24" name="Text 22"/>
          <p:cNvSpPr/>
          <p:nvPr/>
        </p:nvSpPr>
        <p:spPr>
          <a:xfrm>
            <a:off x="548640" y="3520440"/>
            <a:ext cx="8046720" cy="1143000"/>
          </a:xfrm>
          <a:prstGeom prst="rect">
            <a:avLst/>
          </a:prstGeom>
          <a:noFill/>
          <a:ln/>
        </p:spPr>
        <p:txBody>
          <a:bodyPr wrap="square" rtlCol="0" anchor="ctr"/>
          <a:lstStyle/>
          <a:p>
            <a:pPr marL="0" indent="0" algn="ctr">
              <a:buNone/>
            </a:pPr>
            <a:r>
              <a:rPr lang="en-US" sz="1000" b="1" i="1" dirty="0">
                <a:solidFill>
                  <a:schemeClr val="accent2">
                    <a:lumMod val="75000"/>
                  </a:schemeClr>
                </a:solidFill>
                <a:latin typeface="Georgia" panose="02040502050405020303" pitchFamily="18" charset="0"/>
                <a:ea typeface="Arial" pitchFamily="34" charset="-122"/>
                <a:cs typeface="Arial" pitchFamily="34" charset="-120"/>
              </a:rPr>
              <a:t>As an IT professional, I have a responsibility to protect people and their information. Technology can be misused when integrity is lacking. The principle of service guides me to balance efficiency with privacy, security, and ethical responsibility. Integrity means doing what is right even when no one is watching, especially when handling data and systems.</a:t>
            </a:r>
            <a:endParaRPr lang="en-US" sz="1000" b="1" i="1" dirty="0">
              <a:solidFill>
                <a:schemeClr val="accent2">
                  <a:lumMod val="75000"/>
                </a:schemeClr>
              </a:solidFill>
              <a:latin typeface="Georgia" panose="02040502050405020303"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65D"/>
          </a:solidFill>
          <a:ln/>
        </p:spPr>
      </p:sp>
      <p:sp>
        <p:nvSpPr>
          <p:cNvPr id="3" name="Text 1"/>
          <p:cNvSpPr/>
          <p:nvPr/>
        </p:nvSpPr>
        <p:spPr>
          <a:xfrm>
            <a:off x="457200" y="137160"/>
            <a:ext cx="8229600" cy="3657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Challenges and Lessons</a:t>
            </a:r>
            <a:endParaRPr lang="en-US" sz="2400" dirty="0"/>
          </a:p>
        </p:txBody>
      </p:sp>
      <p:sp>
        <p:nvSpPr>
          <p:cNvPr id="4" name="Shape 2"/>
          <p:cNvSpPr/>
          <p:nvPr/>
        </p:nvSpPr>
        <p:spPr>
          <a:xfrm>
            <a:off x="365760" y="914400"/>
            <a:ext cx="8412480" cy="1691640"/>
          </a:xfrm>
          <a:prstGeom prst="roundRect">
            <a:avLst>
              <a:gd name="adj" fmla="val 5405"/>
            </a:avLst>
          </a:prstGeom>
          <a:solidFill>
            <a:srgbClr val="FFFFFF"/>
          </a:solidFill>
          <a:ln/>
          <a:effectLst>
            <a:outerShdw blurRad="101600" dist="25400" dir="8100000" algn="bl" rotWithShape="0">
              <a:srgbClr val="000000">
                <a:alpha val="10000"/>
              </a:srgbClr>
            </a:outerShdw>
          </a:effectLst>
        </p:spPr>
      </p:sp>
      <p:sp>
        <p:nvSpPr>
          <p:cNvPr id="5" name="Shape 3"/>
          <p:cNvSpPr/>
          <p:nvPr/>
        </p:nvSpPr>
        <p:spPr>
          <a:xfrm>
            <a:off x="365760" y="914400"/>
            <a:ext cx="109728" cy="1691640"/>
          </a:xfrm>
          <a:prstGeom prst="rect">
            <a:avLst/>
          </a:prstGeom>
          <a:solidFill>
            <a:srgbClr val="C9A227"/>
          </a:solidFill>
          <a:ln/>
        </p:spPr>
      </p:sp>
      <p:sp>
        <p:nvSpPr>
          <p:cNvPr id="6" name="Text 4"/>
          <p:cNvSpPr/>
          <p:nvPr/>
        </p:nvSpPr>
        <p:spPr>
          <a:xfrm>
            <a:off x="685800" y="1051560"/>
            <a:ext cx="7772400" cy="320040"/>
          </a:xfrm>
          <a:prstGeom prst="rect">
            <a:avLst/>
          </a:prstGeom>
          <a:noFill/>
          <a:ln/>
        </p:spPr>
        <p:txBody>
          <a:bodyPr wrap="square" lIns="0" tIns="0" rIns="0" bIns="0" rtlCol="0" anchor="ctr"/>
          <a:lstStyle/>
          <a:p>
            <a:pPr marL="0" indent="0">
              <a:buNone/>
            </a:pPr>
            <a:r>
              <a:rPr lang="en-US" sz="1500" b="1" dirty="0">
                <a:solidFill>
                  <a:srgbClr val="1B365D"/>
                </a:solidFill>
                <a:latin typeface="Arial" pitchFamily="34" charset="0"/>
                <a:ea typeface="Arial" pitchFamily="34" charset="-122"/>
                <a:cs typeface="Arial" pitchFamily="34" charset="-120"/>
              </a:rPr>
              <a:t>Challenge 1: Balancing Responsibilities</a:t>
            </a:r>
            <a:endParaRPr lang="en-US" sz="1500" dirty="0"/>
          </a:p>
        </p:txBody>
      </p:sp>
      <p:sp>
        <p:nvSpPr>
          <p:cNvPr id="7" name="Text 5"/>
          <p:cNvSpPr/>
          <p:nvPr/>
        </p:nvSpPr>
        <p:spPr>
          <a:xfrm>
            <a:off x="685800" y="1417320"/>
            <a:ext cx="7772400" cy="365760"/>
          </a:xfrm>
          <a:prstGeom prst="rect">
            <a:avLst/>
          </a:prstGeom>
          <a:noFill/>
          <a:ln/>
        </p:spPr>
        <p:txBody>
          <a:bodyPr wrap="square" lIns="0" tIns="0" rIns="0" bIns="0" rtlCol="0" anchor="ctr"/>
          <a:lstStyle/>
          <a:p>
            <a:pPr marL="0" indent="0">
              <a:buNone/>
            </a:pPr>
            <a:r>
              <a:rPr lang="en-US" sz="1300" dirty="0">
                <a:solidFill>
                  <a:srgbClr val="1A2332"/>
                </a:solidFill>
                <a:latin typeface="Arial" pitchFamily="34" charset="0"/>
                <a:ea typeface="Arial" pitchFamily="34" charset="-122"/>
                <a:cs typeface="Arial" pitchFamily="34" charset="-120"/>
              </a:rPr>
              <a:t>Balancing academic responsibilities with other personal and professional responsibilities required intentional effort.</a:t>
            </a:r>
            <a:endParaRPr lang="en-US" sz="1300" dirty="0"/>
          </a:p>
        </p:txBody>
      </p:sp>
      <p:sp>
        <p:nvSpPr>
          <p:cNvPr id="8" name="Text 6"/>
          <p:cNvSpPr/>
          <p:nvPr/>
        </p:nvSpPr>
        <p:spPr>
          <a:xfrm>
            <a:off x="685800" y="1874520"/>
            <a:ext cx="7772400" cy="502920"/>
          </a:xfrm>
          <a:prstGeom prst="rect">
            <a:avLst/>
          </a:prstGeom>
          <a:noFill/>
          <a:ln/>
        </p:spPr>
        <p:txBody>
          <a:bodyPr wrap="square" lIns="0" tIns="0" rIns="0" bIns="0" rtlCol="0" anchor="ctr"/>
          <a:lstStyle/>
          <a:p>
            <a:pPr marL="0" indent="0">
              <a:buNone/>
            </a:pPr>
            <a:r>
              <a:rPr lang="en-US" sz="1300" dirty="0">
                <a:solidFill>
                  <a:srgbClr val="2E5A88"/>
                </a:solidFill>
                <a:latin typeface="Arial" pitchFamily="34" charset="0"/>
                <a:ea typeface="Arial" pitchFamily="34" charset="-122"/>
                <a:cs typeface="Arial" pitchFamily="34" charset="-120"/>
              </a:rPr>
              <a:t>What I learned: The importance of time management, prioritization, consistency, and personal accountability. Growth requires consistent effort rather than immediate results.</a:t>
            </a:r>
            <a:endParaRPr lang="en-US" sz="1300" dirty="0"/>
          </a:p>
        </p:txBody>
      </p:sp>
      <p:sp>
        <p:nvSpPr>
          <p:cNvPr id="9" name="Shape 7"/>
          <p:cNvSpPr/>
          <p:nvPr/>
        </p:nvSpPr>
        <p:spPr>
          <a:xfrm>
            <a:off x="365760" y="2834640"/>
            <a:ext cx="8412480" cy="1691640"/>
          </a:xfrm>
          <a:prstGeom prst="roundRect">
            <a:avLst>
              <a:gd name="adj" fmla="val 5405"/>
            </a:avLst>
          </a:prstGeom>
          <a:solidFill>
            <a:srgbClr val="FFFFFF"/>
          </a:solidFill>
          <a:ln/>
          <a:effectLst>
            <a:outerShdw blurRad="101600" dist="25400" dir="8100000" algn="bl" rotWithShape="0">
              <a:srgbClr val="000000">
                <a:alpha val="10000"/>
              </a:srgbClr>
            </a:outerShdw>
          </a:effectLst>
        </p:spPr>
      </p:sp>
      <p:sp>
        <p:nvSpPr>
          <p:cNvPr id="10" name="Shape 8"/>
          <p:cNvSpPr/>
          <p:nvPr/>
        </p:nvSpPr>
        <p:spPr>
          <a:xfrm>
            <a:off x="365760" y="2834640"/>
            <a:ext cx="109728" cy="1691640"/>
          </a:xfrm>
          <a:prstGeom prst="rect">
            <a:avLst/>
          </a:prstGeom>
          <a:solidFill>
            <a:srgbClr val="2E5A88"/>
          </a:solidFill>
          <a:ln/>
        </p:spPr>
      </p:sp>
      <p:sp>
        <p:nvSpPr>
          <p:cNvPr id="11" name="Text 9"/>
          <p:cNvSpPr/>
          <p:nvPr/>
        </p:nvSpPr>
        <p:spPr>
          <a:xfrm>
            <a:off x="685800" y="2971800"/>
            <a:ext cx="7772400" cy="320040"/>
          </a:xfrm>
          <a:prstGeom prst="rect">
            <a:avLst/>
          </a:prstGeom>
          <a:noFill/>
          <a:ln/>
        </p:spPr>
        <p:txBody>
          <a:bodyPr wrap="square" lIns="0" tIns="0" rIns="0" bIns="0" rtlCol="0" anchor="ctr"/>
          <a:lstStyle/>
          <a:p>
            <a:pPr marL="0" indent="0">
              <a:buNone/>
            </a:pPr>
            <a:r>
              <a:rPr lang="en-US" sz="1500" b="1" dirty="0">
                <a:solidFill>
                  <a:srgbClr val="1B365D"/>
                </a:solidFill>
                <a:latin typeface="Arial" pitchFamily="34" charset="0"/>
                <a:ea typeface="Arial" pitchFamily="34" charset="-122"/>
                <a:cs typeface="Arial" pitchFamily="34" charset="-120"/>
              </a:rPr>
              <a:t>Challenge 2: Complex Technical Concepts</a:t>
            </a:r>
            <a:endParaRPr lang="en-US" sz="1500" dirty="0"/>
          </a:p>
        </p:txBody>
      </p:sp>
      <p:sp>
        <p:nvSpPr>
          <p:cNvPr id="12" name="Text 10"/>
          <p:cNvSpPr/>
          <p:nvPr/>
        </p:nvSpPr>
        <p:spPr>
          <a:xfrm>
            <a:off x="685800" y="3337560"/>
            <a:ext cx="7772400" cy="365760"/>
          </a:xfrm>
          <a:prstGeom prst="rect">
            <a:avLst/>
          </a:prstGeom>
          <a:noFill/>
          <a:ln/>
        </p:spPr>
        <p:txBody>
          <a:bodyPr wrap="square" lIns="0" tIns="0" rIns="0" bIns="0" rtlCol="0" anchor="ctr"/>
          <a:lstStyle/>
          <a:p>
            <a:pPr marL="0" indent="0">
              <a:buNone/>
            </a:pPr>
            <a:r>
              <a:rPr lang="en-US" sz="1300" dirty="0">
                <a:solidFill>
                  <a:srgbClr val="1A2332"/>
                </a:solidFill>
                <a:latin typeface="Arial" pitchFamily="34" charset="0"/>
                <a:ea typeface="Arial" pitchFamily="34" charset="-122"/>
                <a:cs typeface="Arial" pitchFamily="34" charset="-120"/>
              </a:rPr>
              <a:t>Understanding complex technical concepts and applying them to practical situations was initially difficult.</a:t>
            </a:r>
            <a:endParaRPr lang="en-US" sz="1300" dirty="0"/>
          </a:p>
        </p:txBody>
      </p:sp>
      <p:sp>
        <p:nvSpPr>
          <p:cNvPr id="13" name="Text 11"/>
          <p:cNvSpPr/>
          <p:nvPr/>
        </p:nvSpPr>
        <p:spPr>
          <a:xfrm>
            <a:off x="685800" y="3794760"/>
            <a:ext cx="7772400" cy="502920"/>
          </a:xfrm>
          <a:prstGeom prst="rect">
            <a:avLst/>
          </a:prstGeom>
          <a:noFill/>
          <a:ln/>
        </p:spPr>
        <p:txBody>
          <a:bodyPr wrap="square" lIns="0" tIns="0" rIns="0" bIns="0" rtlCol="0" anchor="ctr"/>
          <a:lstStyle/>
          <a:p>
            <a:pPr marL="0" indent="0">
              <a:buNone/>
            </a:pPr>
            <a:r>
              <a:rPr lang="en-US" sz="1300" dirty="0">
                <a:solidFill>
                  <a:srgbClr val="2E5A88"/>
                </a:solidFill>
                <a:latin typeface="Arial" pitchFamily="34" charset="0"/>
                <a:ea typeface="Arial" pitchFamily="34" charset="-122"/>
                <a:cs typeface="Arial" pitchFamily="34" charset="-120"/>
              </a:rPr>
              <a:t>What I learned: Difficult concepts become manageable when I break them into smaller problems, research reliable sources, practice consistently, and ask for guidance when necessary.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65D"/>
          </a:solidFill>
          <a:ln/>
        </p:spPr>
      </p:sp>
      <p:sp>
        <p:nvSpPr>
          <p:cNvPr id="3" name="Text 1"/>
          <p:cNvSpPr/>
          <p:nvPr/>
        </p:nvSpPr>
        <p:spPr>
          <a:xfrm>
            <a:off x="457200" y="137160"/>
            <a:ext cx="8229600" cy="3657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Application of Learning</a:t>
            </a:r>
            <a:endParaRPr lang="en-US" sz="2400" dirty="0"/>
          </a:p>
        </p:txBody>
      </p:sp>
      <p:sp>
        <p:nvSpPr>
          <p:cNvPr id="4" name="Shape 2"/>
          <p:cNvSpPr/>
          <p:nvPr/>
        </p:nvSpPr>
        <p:spPr>
          <a:xfrm>
            <a:off x="320040" y="822960"/>
            <a:ext cx="8503920" cy="1234440"/>
          </a:xfrm>
          <a:prstGeom prst="roundRect">
            <a:avLst>
              <a:gd name="adj" fmla="val 5926"/>
            </a:avLst>
          </a:prstGeom>
          <a:solidFill>
            <a:srgbClr val="FFFFFF"/>
          </a:solidFill>
          <a:ln/>
          <a:effectLst>
            <a:outerShdw blurRad="101600" dist="25400" dir="8100000" algn="bl" rotWithShape="0">
              <a:srgbClr val="000000">
                <a:alpha val="10000"/>
              </a:srgbClr>
            </a:outerShdw>
          </a:effectLst>
        </p:spPr>
      </p:sp>
      <p:sp>
        <p:nvSpPr>
          <p:cNvPr id="5" name="Shape 3"/>
          <p:cNvSpPr/>
          <p:nvPr/>
        </p:nvSpPr>
        <p:spPr>
          <a:xfrm>
            <a:off x="320040" y="822960"/>
            <a:ext cx="91440" cy="1234440"/>
          </a:xfrm>
          <a:prstGeom prst="rect">
            <a:avLst/>
          </a:prstGeom>
          <a:solidFill>
            <a:srgbClr val="C9A227"/>
          </a:solidFill>
          <a:ln/>
        </p:spPr>
      </p:sp>
      <p:sp>
        <p:nvSpPr>
          <p:cNvPr id="6" name="Text 4"/>
          <p:cNvSpPr/>
          <p:nvPr/>
        </p:nvSpPr>
        <p:spPr>
          <a:xfrm>
            <a:off x="594360" y="914400"/>
            <a:ext cx="8046720" cy="274320"/>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Professional Communication</a:t>
            </a:r>
            <a:endParaRPr lang="en-US" sz="1400" dirty="0"/>
          </a:p>
        </p:txBody>
      </p:sp>
      <p:sp>
        <p:nvSpPr>
          <p:cNvPr id="7" name="Text 5"/>
          <p:cNvSpPr/>
          <p:nvPr/>
        </p:nvSpPr>
        <p:spPr>
          <a:xfrm>
            <a:off x="594360" y="1234440"/>
            <a:ext cx="8046720" cy="731520"/>
          </a:xfrm>
          <a:prstGeom prst="rect">
            <a:avLst/>
          </a:prstGeom>
          <a:noFill/>
          <a:ln/>
        </p:spPr>
        <p:txBody>
          <a:bodyPr wrap="square" rtlCol="0" anchor="ctr"/>
          <a:lstStyle/>
          <a:p>
            <a:pPr marL="0" indent="0">
              <a:buNone/>
            </a:pPr>
            <a:r>
              <a:rPr lang="en-US" sz="1200" b="1" dirty="0">
                <a:solidFill>
                  <a:srgbClr val="1A2332"/>
                </a:solidFill>
                <a:latin typeface="Arial" pitchFamily="34" charset="0"/>
                <a:ea typeface="Arial" pitchFamily="34" charset="-122"/>
                <a:cs typeface="Arial" pitchFamily="34" charset="-120"/>
              </a:rPr>
              <a:t>Learning: </a:t>
            </a:r>
            <a:r>
              <a:rPr lang="en-US" sz="1200" dirty="0">
                <a:solidFill>
                  <a:srgbClr val="1A2332"/>
                </a:solidFill>
                <a:latin typeface="Arial" pitchFamily="34" charset="0"/>
                <a:ea typeface="Arial" pitchFamily="34" charset="-122"/>
                <a:cs typeface="Arial" pitchFamily="34" charset="-120"/>
              </a:rPr>
              <a:t>Clear communication is essential when explaining technical information.  </a:t>
            </a:r>
            <a:r>
              <a:rPr lang="en-US" sz="1200" b="1" dirty="0">
                <a:solidFill>
                  <a:srgbClr val="1A2332"/>
                </a:solidFill>
                <a:latin typeface="Arial" pitchFamily="34" charset="0"/>
                <a:ea typeface="Arial" pitchFamily="34" charset="-122"/>
                <a:cs typeface="Arial" pitchFamily="34" charset="-120"/>
              </a:rPr>
              <a:t>Action: </a:t>
            </a:r>
            <a:r>
              <a:rPr lang="en-US" sz="1200" dirty="0">
                <a:solidFill>
                  <a:srgbClr val="1A2332"/>
                </a:solidFill>
                <a:latin typeface="Arial" pitchFamily="34" charset="0"/>
                <a:ea typeface="Arial" pitchFamily="34" charset="-122"/>
                <a:cs typeface="Arial" pitchFamily="34" charset="-120"/>
              </a:rPr>
              <a:t>I practiced organizing technical information into simpler, structured explanations.  </a:t>
            </a:r>
            <a:r>
              <a:rPr lang="en-US" sz="1200" b="1" dirty="0">
                <a:solidFill>
                  <a:srgbClr val="1A2332"/>
                </a:solidFill>
                <a:latin typeface="Arial" pitchFamily="34" charset="0"/>
                <a:ea typeface="Arial" pitchFamily="34" charset="-122"/>
                <a:cs typeface="Arial" pitchFamily="34" charset="-120"/>
              </a:rPr>
              <a:t>Result: </a:t>
            </a:r>
            <a:r>
              <a:rPr lang="en-US" sz="1200" dirty="0">
                <a:solidFill>
                  <a:srgbClr val="1A2332"/>
                </a:solidFill>
                <a:latin typeface="Arial" pitchFamily="34" charset="0"/>
                <a:ea typeface="Arial" pitchFamily="34" charset="-122"/>
                <a:cs typeface="Arial" pitchFamily="34" charset="-120"/>
              </a:rPr>
              <a:t>I became more confident communicating technical ideas to different audiences.</a:t>
            </a:r>
            <a:endParaRPr lang="en-US" sz="1200" dirty="0"/>
          </a:p>
        </p:txBody>
      </p:sp>
      <p:sp>
        <p:nvSpPr>
          <p:cNvPr id="8" name="Shape 6"/>
          <p:cNvSpPr/>
          <p:nvPr/>
        </p:nvSpPr>
        <p:spPr>
          <a:xfrm>
            <a:off x="320040" y="2194560"/>
            <a:ext cx="8503920" cy="1234440"/>
          </a:xfrm>
          <a:prstGeom prst="roundRect">
            <a:avLst>
              <a:gd name="adj" fmla="val 5926"/>
            </a:avLst>
          </a:prstGeom>
          <a:solidFill>
            <a:srgbClr val="FFFFFF"/>
          </a:solidFill>
          <a:ln/>
          <a:effectLst>
            <a:outerShdw blurRad="101600" dist="25400" dir="8100000" algn="bl" rotWithShape="0">
              <a:srgbClr val="000000">
                <a:alpha val="10000"/>
              </a:srgbClr>
            </a:outerShdw>
          </a:effectLst>
        </p:spPr>
      </p:sp>
      <p:sp>
        <p:nvSpPr>
          <p:cNvPr id="9" name="Shape 7"/>
          <p:cNvSpPr/>
          <p:nvPr/>
        </p:nvSpPr>
        <p:spPr>
          <a:xfrm>
            <a:off x="320040" y="2194560"/>
            <a:ext cx="91440" cy="1234440"/>
          </a:xfrm>
          <a:prstGeom prst="rect">
            <a:avLst/>
          </a:prstGeom>
          <a:solidFill>
            <a:srgbClr val="1B365D"/>
          </a:solidFill>
          <a:ln/>
        </p:spPr>
      </p:sp>
      <p:sp>
        <p:nvSpPr>
          <p:cNvPr id="10" name="Text 8"/>
          <p:cNvSpPr/>
          <p:nvPr/>
        </p:nvSpPr>
        <p:spPr>
          <a:xfrm>
            <a:off x="594360" y="2286000"/>
            <a:ext cx="8046720" cy="274320"/>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Problem-Solving</a:t>
            </a:r>
            <a:endParaRPr lang="en-US" sz="1400" dirty="0"/>
          </a:p>
        </p:txBody>
      </p:sp>
      <p:sp>
        <p:nvSpPr>
          <p:cNvPr id="11" name="Text 9"/>
          <p:cNvSpPr/>
          <p:nvPr/>
        </p:nvSpPr>
        <p:spPr>
          <a:xfrm>
            <a:off x="594360" y="2606040"/>
            <a:ext cx="8046720" cy="731520"/>
          </a:xfrm>
          <a:prstGeom prst="rect">
            <a:avLst/>
          </a:prstGeom>
          <a:noFill/>
          <a:ln/>
        </p:spPr>
        <p:txBody>
          <a:bodyPr wrap="square" rtlCol="0" anchor="ctr"/>
          <a:lstStyle/>
          <a:p>
            <a:pPr marL="0" indent="0">
              <a:buNone/>
            </a:pPr>
            <a:r>
              <a:rPr lang="en-US" sz="1200" b="1" dirty="0">
                <a:solidFill>
                  <a:srgbClr val="1A2332"/>
                </a:solidFill>
                <a:latin typeface="Arial" pitchFamily="34" charset="0"/>
                <a:ea typeface="Arial" pitchFamily="34" charset="-122"/>
                <a:cs typeface="Arial" pitchFamily="34" charset="-120"/>
              </a:rPr>
              <a:t>Learning: </a:t>
            </a:r>
            <a:r>
              <a:rPr lang="en-US" sz="1200" dirty="0">
                <a:solidFill>
                  <a:srgbClr val="1A2332"/>
                </a:solidFill>
                <a:latin typeface="Arial" pitchFamily="34" charset="0"/>
                <a:ea typeface="Arial" pitchFamily="34" charset="-122"/>
                <a:cs typeface="Arial" pitchFamily="34" charset="-120"/>
              </a:rPr>
              <a:t>Complex problems require systematic analysis.  </a:t>
            </a:r>
            <a:r>
              <a:rPr lang="en-US" sz="1200" b="1" dirty="0">
                <a:solidFill>
                  <a:srgbClr val="1A2332"/>
                </a:solidFill>
                <a:latin typeface="Arial" pitchFamily="34" charset="0"/>
                <a:ea typeface="Arial" pitchFamily="34" charset="-122"/>
                <a:cs typeface="Arial" pitchFamily="34" charset="-120"/>
              </a:rPr>
              <a:t>Action: </a:t>
            </a:r>
            <a:r>
              <a:rPr lang="en-US" sz="1200" dirty="0">
                <a:solidFill>
                  <a:srgbClr val="1A2332"/>
                </a:solidFill>
                <a:latin typeface="Arial" pitchFamily="34" charset="0"/>
                <a:ea typeface="Arial" pitchFamily="34" charset="-122"/>
                <a:cs typeface="Arial" pitchFamily="34" charset="-120"/>
              </a:rPr>
              <a:t>I broke technical problems into smaller components and evaluated possible solutions.  </a:t>
            </a:r>
            <a:r>
              <a:rPr lang="en-US" sz="1200" b="1" dirty="0">
                <a:solidFill>
                  <a:srgbClr val="1A2332"/>
                </a:solidFill>
                <a:latin typeface="Arial" pitchFamily="34" charset="0"/>
                <a:ea typeface="Arial" pitchFamily="34" charset="-122"/>
                <a:cs typeface="Arial" pitchFamily="34" charset="-120"/>
              </a:rPr>
              <a:t>Result: </a:t>
            </a:r>
            <a:r>
              <a:rPr lang="en-US" sz="1200" dirty="0">
                <a:solidFill>
                  <a:srgbClr val="1A2332"/>
                </a:solidFill>
                <a:latin typeface="Arial" pitchFamily="34" charset="0"/>
                <a:ea typeface="Arial" pitchFamily="34" charset="-122"/>
                <a:cs typeface="Arial" pitchFamily="34" charset="-120"/>
              </a:rPr>
              <a:t>I developed a more organized and practical approach to solving IT problems.</a:t>
            </a:r>
            <a:endParaRPr lang="en-US" sz="1200" dirty="0"/>
          </a:p>
        </p:txBody>
      </p:sp>
      <p:sp>
        <p:nvSpPr>
          <p:cNvPr id="12" name="Shape 10"/>
          <p:cNvSpPr/>
          <p:nvPr/>
        </p:nvSpPr>
        <p:spPr>
          <a:xfrm>
            <a:off x="320040" y="3566160"/>
            <a:ext cx="8503920" cy="1234440"/>
          </a:xfrm>
          <a:prstGeom prst="roundRect">
            <a:avLst>
              <a:gd name="adj" fmla="val 5926"/>
            </a:avLst>
          </a:prstGeom>
          <a:solidFill>
            <a:srgbClr val="FFFFFF"/>
          </a:solidFill>
          <a:ln/>
          <a:effectLst>
            <a:outerShdw blurRad="101600" dist="25400" dir="8100000" algn="bl" rotWithShape="0">
              <a:srgbClr val="000000">
                <a:alpha val="10000"/>
              </a:srgbClr>
            </a:outerShdw>
          </a:effectLst>
        </p:spPr>
      </p:sp>
      <p:sp>
        <p:nvSpPr>
          <p:cNvPr id="13" name="Shape 11"/>
          <p:cNvSpPr/>
          <p:nvPr/>
        </p:nvSpPr>
        <p:spPr>
          <a:xfrm>
            <a:off x="320040" y="3566160"/>
            <a:ext cx="91440" cy="1234440"/>
          </a:xfrm>
          <a:prstGeom prst="rect">
            <a:avLst/>
          </a:prstGeom>
          <a:solidFill>
            <a:srgbClr val="2E5A88"/>
          </a:solidFill>
          <a:ln/>
        </p:spPr>
      </p:sp>
      <p:sp>
        <p:nvSpPr>
          <p:cNvPr id="14" name="Text 12"/>
          <p:cNvSpPr/>
          <p:nvPr/>
        </p:nvSpPr>
        <p:spPr>
          <a:xfrm>
            <a:off x="594360" y="3657600"/>
            <a:ext cx="8046720" cy="274320"/>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Ethical Technology</a:t>
            </a:r>
            <a:endParaRPr lang="en-US" sz="1400" dirty="0"/>
          </a:p>
        </p:txBody>
      </p:sp>
      <p:sp>
        <p:nvSpPr>
          <p:cNvPr id="15" name="Text 13"/>
          <p:cNvSpPr/>
          <p:nvPr/>
        </p:nvSpPr>
        <p:spPr>
          <a:xfrm>
            <a:off x="594360" y="3977640"/>
            <a:ext cx="8046720" cy="731520"/>
          </a:xfrm>
          <a:prstGeom prst="rect">
            <a:avLst/>
          </a:prstGeom>
          <a:noFill/>
          <a:ln/>
        </p:spPr>
        <p:txBody>
          <a:bodyPr wrap="square" rtlCol="0" anchor="ctr"/>
          <a:lstStyle/>
          <a:p>
            <a:pPr marL="0" indent="0">
              <a:buNone/>
            </a:pPr>
            <a:r>
              <a:rPr lang="en-US" sz="1200" b="1" dirty="0">
                <a:solidFill>
                  <a:srgbClr val="1A2332"/>
                </a:solidFill>
                <a:latin typeface="Arial" pitchFamily="34" charset="0"/>
                <a:ea typeface="Arial" pitchFamily="34" charset="-122"/>
                <a:cs typeface="Arial" pitchFamily="34" charset="-120"/>
              </a:rPr>
              <a:t>Learning: </a:t>
            </a:r>
            <a:r>
              <a:rPr lang="en-US" sz="1200" dirty="0">
                <a:solidFill>
                  <a:srgbClr val="1A2332"/>
                </a:solidFill>
                <a:latin typeface="Arial" pitchFamily="34" charset="0"/>
                <a:ea typeface="Arial" pitchFamily="34" charset="-122"/>
                <a:cs typeface="Arial" pitchFamily="34" charset="-120"/>
              </a:rPr>
              <a:t>Technology must be used responsibly.  </a:t>
            </a:r>
            <a:r>
              <a:rPr lang="en-US" sz="1200" b="1" dirty="0">
                <a:solidFill>
                  <a:srgbClr val="1A2332"/>
                </a:solidFill>
                <a:latin typeface="Arial" pitchFamily="34" charset="0"/>
                <a:ea typeface="Arial" pitchFamily="34" charset="-122"/>
                <a:cs typeface="Arial" pitchFamily="34" charset="-120"/>
              </a:rPr>
              <a:t>Action: </a:t>
            </a:r>
            <a:r>
              <a:rPr lang="en-US" sz="1200" dirty="0">
                <a:solidFill>
                  <a:srgbClr val="1A2332"/>
                </a:solidFill>
                <a:latin typeface="Arial" pitchFamily="34" charset="0"/>
                <a:ea typeface="Arial" pitchFamily="34" charset="-122"/>
                <a:cs typeface="Arial" pitchFamily="34" charset="-120"/>
              </a:rPr>
              <a:t>I considered security, privacy, integrity, and potential risks when evaluating solutions.  </a:t>
            </a:r>
            <a:r>
              <a:rPr lang="en-US" sz="1200" b="1" dirty="0">
                <a:solidFill>
                  <a:srgbClr val="1A2332"/>
                </a:solidFill>
                <a:latin typeface="Arial" pitchFamily="34" charset="0"/>
                <a:ea typeface="Arial" pitchFamily="34" charset="-122"/>
                <a:cs typeface="Arial" pitchFamily="34" charset="-120"/>
              </a:rPr>
              <a:t>Result: </a:t>
            </a:r>
            <a:r>
              <a:rPr lang="en-US" sz="1200" dirty="0">
                <a:solidFill>
                  <a:srgbClr val="1A2332"/>
                </a:solidFill>
                <a:latin typeface="Arial" pitchFamily="34" charset="0"/>
                <a:ea typeface="Arial" pitchFamily="34" charset="-122"/>
                <a:cs typeface="Arial" pitchFamily="34" charset="-120"/>
              </a:rPr>
              <a:t>I developed a stronger understanding of the responsibility that comes with technology.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65D"/>
          </a:solidFill>
          <a:ln/>
        </p:spPr>
      </p:sp>
      <p:sp>
        <p:nvSpPr>
          <p:cNvPr id="3" name="Text 1"/>
          <p:cNvSpPr/>
          <p:nvPr/>
        </p:nvSpPr>
        <p:spPr>
          <a:xfrm>
            <a:off x="457200" y="137160"/>
            <a:ext cx="8229600" cy="3657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My Future Vision</a:t>
            </a:r>
            <a:endParaRPr lang="en-US" sz="2400" dirty="0"/>
          </a:p>
        </p:txBody>
      </p:sp>
      <p:sp>
        <p:nvSpPr>
          <p:cNvPr id="4" name="Shape 2"/>
          <p:cNvSpPr/>
          <p:nvPr/>
        </p:nvSpPr>
        <p:spPr>
          <a:xfrm>
            <a:off x="457200" y="1005840"/>
            <a:ext cx="8229600" cy="1828800"/>
          </a:xfrm>
          <a:prstGeom prst="roundRect">
            <a:avLst>
              <a:gd name="adj" fmla="val 5000"/>
            </a:avLst>
          </a:prstGeom>
          <a:solidFill>
            <a:srgbClr val="1B365D"/>
          </a:solidFill>
          <a:ln/>
        </p:spPr>
      </p:sp>
      <p:pic>
        <p:nvPicPr>
          <p:cNvPr id="5" name="Image 0" descr="preencoded.png"/>
          <p:cNvPicPr>
            <a:picLocks noChangeAspect="1"/>
          </p:cNvPicPr>
          <p:nvPr/>
        </p:nvPicPr>
        <p:blipFill>
          <a:blip r:embed="rId3"/>
          <a:stretch>
            <a:fillRect/>
          </a:stretch>
        </p:blipFill>
        <p:spPr>
          <a:xfrm>
            <a:off x="731520" y="1234440"/>
            <a:ext cx="365760" cy="365760"/>
          </a:xfrm>
          <a:prstGeom prst="rect">
            <a:avLst/>
          </a:prstGeom>
        </p:spPr>
      </p:pic>
      <p:sp>
        <p:nvSpPr>
          <p:cNvPr id="6" name="Text 3"/>
          <p:cNvSpPr/>
          <p:nvPr/>
        </p:nvSpPr>
        <p:spPr>
          <a:xfrm>
            <a:off x="1234440" y="1280160"/>
            <a:ext cx="6858000" cy="320040"/>
          </a:xfrm>
          <a:prstGeom prst="rect">
            <a:avLst/>
          </a:prstGeom>
          <a:noFill/>
          <a:ln/>
        </p:spPr>
        <p:txBody>
          <a:bodyPr wrap="square" lIns="0" tIns="0" rIns="0" bIns="0" rtlCol="0" anchor="ctr"/>
          <a:lstStyle/>
          <a:p>
            <a:pPr marL="0" indent="0">
              <a:buNone/>
            </a:pPr>
            <a:r>
              <a:rPr lang="en-US" sz="1400" b="1" dirty="0">
                <a:solidFill>
                  <a:srgbClr val="C9A227"/>
                </a:solidFill>
                <a:latin typeface="Arial" pitchFamily="34" charset="0"/>
                <a:ea typeface="Arial" pitchFamily="34" charset="-122"/>
                <a:cs typeface="Arial" pitchFamily="34" charset="-120"/>
              </a:rPr>
              <a:t>Who I Want to Become</a:t>
            </a:r>
            <a:endParaRPr lang="en-US" sz="1400" dirty="0"/>
          </a:p>
        </p:txBody>
      </p:sp>
      <p:sp>
        <p:nvSpPr>
          <p:cNvPr id="7" name="Text 4"/>
          <p:cNvSpPr/>
          <p:nvPr/>
        </p:nvSpPr>
        <p:spPr>
          <a:xfrm>
            <a:off x="731520" y="1737360"/>
            <a:ext cx="7680960" cy="914400"/>
          </a:xfrm>
          <a:prstGeom prst="rect">
            <a:avLst/>
          </a:prstGeom>
          <a:noFill/>
          <a:ln/>
        </p:spPr>
        <p:txBody>
          <a:bodyPr wrap="square" rtlCol="0" anchor="ctr"/>
          <a:lstStyle/>
          <a:p>
            <a:pPr marL="0" indent="0">
              <a:buNone/>
            </a:pPr>
            <a:r>
              <a:rPr lang="en-US" sz="1400" dirty="0">
                <a:solidFill>
                  <a:srgbClr val="FFFFFF"/>
                </a:solidFill>
                <a:ea typeface="Georgia" pitchFamily="34" charset="-122"/>
                <a:cs typeface="Georgia" pitchFamily="34" charset="-120"/>
              </a:rPr>
              <a:t>My vision is to become a technically capable and trusted IT professional who uses technology ethically to solve problems, protect information, serve others, and create meaningful impact. I will continue developing spiritually, academically, and professionally while striving to follow the example of Jesus Christ in my career and daily life.</a:t>
            </a:r>
            <a:endParaRPr lang="en-US" sz="1400" dirty="0"/>
          </a:p>
        </p:txBody>
      </p:sp>
      <p:sp>
        <p:nvSpPr>
          <p:cNvPr id="8" name="Shape 5"/>
          <p:cNvSpPr/>
          <p:nvPr/>
        </p:nvSpPr>
        <p:spPr>
          <a:xfrm>
            <a:off x="457200" y="3108960"/>
            <a:ext cx="2743200" cy="1554480"/>
          </a:xfrm>
          <a:prstGeom prst="roundRect">
            <a:avLst>
              <a:gd name="adj" fmla="val 5882"/>
            </a:avLst>
          </a:prstGeom>
          <a:solidFill>
            <a:srgbClr val="FFFFFF"/>
          </a:solidFill>
          <a:ln/>
          <a:effectLst>
            <a:outerShdw blurRad="101600" dist="25400" dir="8100000" algn="bl" rotWithShape="0">
              <a:srgbClr val="000000">
                <a:alpha val="10000"/>
              </a:srgbClr>
            </a:outerShdw>
          </a:effectLst>
        </p:spPr>
      </p:sp>
      <p:pic>
        <p:nvPicPr>
          <p:cNvPr id="9" name="Image 1" descr="preencoded.png"/>
          <p:cNvPicPr>
            <a:picLocks noChangeAspect="1"/>
          </p:cNvPicPr>
          <p:nvPr/>
        </p:nvPicPr>
        <p:blipFill>
          <a:blip r:embed="rId4"/>
          <a:stretch>
            <a:fillRect/>
          </a:stretch>
        </p:blipFill>
        <p:spPr>
          <a:xfrm>
            <a:off x="1554480" y="3246120"/>
            <a:ext cx="411480" cy="411480"/>
          </a:xfrm>
          <a:prstGeom prst="rect">
            <a:avLst/>
          </a:prstGeom>
        </p:spPr>
      </p:pic>
      <p:sp>
        <p:nvSpPr>
          <p:cNvPr id="10" name="Text 6"/>
          <p:cNvSpPr/>
          <p:nvPr/>
        </p:nvSpPr>
        <p:spPr>
          <a:xfrm>
            <a:off x="594360" y="3794760"/>
            <a:ext cx="2468880" cy="320040"/>
          </a:xfrm>
          <a:prstGeom prst="rect">
            <a:avLst/>
          </a:prstGeom>
          <a:noFill/>
          <a:ln/>
        </p:spPr>
        <p:txBody>
          <a:bodyPr wrap="square" lIns="0" tIns="0" rIns="0" bIns="0" rtlCol="0" anchor="ctr"/>
          <a:lstStyle/>
          <a:p>
            <a:pPr marL="0" indent="0" algn="ctr">
              <a:buNone/>
            </a:pPr>
            <a:r>
              <a:rPr lang="en-US" sz="1300" b="1" dirty="0">
                <a:solidFill>
                  <a:srgbClr val="1B365D"/>
                </a:solidFill>
                <a:latin typeface="Arial" pitchFamily="34" charset="0"/>
                <a:ea typeface="Arial" pitchFamily="34" charset="-122"/>
                <a:cs typeface="Arial" pitchFamily="34" charset="-120"/>
              </a:rPr>
              <a:t>Spiritually Grounded</a:t>
            </a:r>
            <a:endParaRPr lang="en-US" sz="1300" dirty="0"/>
          </a:p>
        </p:txBody>
      </p:sp>
      <p:sp>
        <p:nvSpPr>
          <p:cNvPr id="11" name="Text 7"/>
          <p:cNvSpPr/>
          <p:nvPr/>
        </p:nvSpPr>
        <p:spPr>
          <a:xfrm>
            <a:off x="594360" y="4114800"/>
            <a:ext cx="2468880" cy="365760"/>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Seek God's guidance in every decision</a:t>
            </a:r>
            <a:endParaRPr lang="en-US" sz="1200" dirty="0"/>
          </a:p>
        </p:txBody>
      </p:sp>
      <p:sp>
        <p:nvSpPr>
          <p:cNvPr id="12" name="Shape 8"/>
          <p:cNvSpPr/>
          <p:nvPr/>
        </p:nvSpPr>
        <p:spPr>
          <a:xfrm>
            <a:off x="3337560" y="3108960"/>
            <a:ext cx="2743200" cy="1554480"/>
          </a:xfrm>
          <a:prstGeom prst="roundRect">
            <a:avLst>
              <a:gd name="adj" fmla="val 5882"/>
            </a:avLst>
          </a:prstGeom>
          <a:solidFill>
            <a:srgbClr val="FFFFFF"/>
          </a:solidFill>
          <a:ln/>
          <a:effectLst>
            <a:outerShdw blurRad="101600" dist="25400" dir="8100000" algn="bl" rotWithShape="0">
              <a:srgbClr val="000000">
                <a:alpha val="10000"/>
              </a:srgbClr>
            </a:outerShdw>
          </a:effectLst>
        </p:spPr>
      </p:sp>
      <p:pic>
        <p:nvPicPr>
          <p:cNvPr id="13" name="Image 2" descr="preencoded.png"/>
          <p:cNvPicPr>
            <a:picLocks noChangeAspect="1"/>
          </p:cNvPicPr>
          <p:nvPr/>
        </p:nvPicPr>
        <p:blipFill>
          <a:blip r:embed="rId5"/>
          <a:stretch>
            <a:fillRect/>
          </a:stretch>
        </p:blipFill>
        <p:spPr>
          <a:xfrm>
            <a:off x="4434840" y="3246120"/>
            <a:ext cx="411480" cy="411480"/>
          </a:xfrm>
          <a:prstGeom prst="rect">
            <a:avLst/>
          </a:prstGeom>
        </p:spPr>
      </p:pic>
      <p:sp>
        <p:nvSpPr>
          <p:cNvPr id="14" name="Text 9"/>
          <p:cNvSpPr/>
          <p:nvPr/>
        </p:nvSpPr>
        <p:spPr>
          <a:xfrm>
            <a:off x="3474720" y="3794760"/>
            <a:ext cx="2468880" cy="320040"/>
          </a:xfrm>
          <a:prstGeom prst="rect">
            <a:avLst/>
          </a:prstGeom>
          <a:noFill/>
          <a:ln/>
        </p:spPr>
        <p:txBody>
          <a:bodyPr wrap="square" lIns="0" tIns="0" rIns="0" bIns="0" rtlCol="0" anchor="ctr"/>
          <a:lstStyle/>
          <a:p>
            <a:pPr marL="0" indent="0" algn="ctr">
              <a:buNone/>
            </a:pPr>
            <a:r>
              <a:rPr lang="en-US" sz="1300" b="1" dirty="0">
                <a:solidFill>
                  <a:srgbClr val="1B365D"/>
                </a:solidFill>
                <a:latin typeface="Arial" pitchFamily="34" charset="0"/>
                <a:ea typeface="Arial" pitchFamily="34" charset="-122"/>
                <a:cs typeface="Arial" pitchFamily="34" charset="-120"/>
              </a:rPr>
              <a:t>Technically Capable</a:t>
            </a:r>
            <a:endParaRPr lang="en-US" sz="1300" dirty="0"/>
          </a:p>
        </p:txBody>
      </p:sp>
      <p:sp>
        <p:nvSpPr>
          <p:cNvPr id="15" name="Text 10"/>
          <p:cNvSpPr/>
          <p:nvPr/>
        </p:nvSpPr>
        <p:spPr>
          <a:xfrm>
            <a:off x="3474720" y="4114800"/>
            <a:ext cx="2468880" cy="365760"/>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Master IT skills with continuous learning</a:t>
            </a:r>
            <a:endParaRPr lang="en-US" sz="1200" dirty="0"/>
          </a:p>
        </p:txBody>
      </p:sp>
      <p:sp>
        <p:nvSpPr>
          <p:cNvPr id="16" name="Shape 11"/>
          <p:cNvSpPr/>
          <p:nvPr/>
        </p:nvSpPr>
        <p:spPr>
          <a:xfrm>
            <a:off x="6217920" y="3108960"/>
            <a:ext cx="2743200" cy="1554480"/>
          </a:xfrm>
          <a:prstGeom prst="roundRect">
            <a:avLst>
              <a:gd name="adj" fmla="val 5882"/>
            </a:avLst>
          </a:prstGeom>
          <a:solidFill>
            <a:srgbClr val="FFFFFF"/>
          </a:solidFill>
          <a:ln/>
          <a:effectLst>
            <a:outerShdw blurRad="101600" dist="25400" dir="8100000" algn="bl" rotWithShape="0">
              <a:srgbClr val="000000">
                <a:alpha val="10000"/>
              </a:srgbClr>
            </a:outerShdw>
          </a:effectLst>
        </p:spPr>
      </p:sp>
      <p:pic>
        <p:nvPicPr>
          <p:cNvPr id="17" name="Image 3" descr="preencoded.png"/>
          <p:cNvPicPr>
            <a:picLocks noChangeAspect="1"/>
          </p:cNvPicPr>
          <p:nvPr/>
        </p:nvPicPr>
        <p:blipFill>
          <a:blip r:embed="rId6"/>
          <a:stretch>
            <a:fillRect/>
          </a:stretch>
        </p:blipFill>
        <p:spPr>
          <a:xfrm>
            <a:off x="7315200" y="3246120"/>
            <a:ext cx="411480" cy="411480"/>
          </a:xfrm>
          <a:prstGeom prst="rect">
            <a:avLst/>
          </a:prstGeom>
        </p:spPr>
      </p:pic>
      <p:sp>
        <p:nvSpPr>
          <p:cNvPr id="18" name="Text 12"/>
          <p:cNvSpPr/>
          <p:nvPr/>
        </p:nvSpPr>
        <p:spPr>
          <a:xfrm>
            <a:off x="6355080" y="3794760"/>
            <a:ext cx="2468880" cy="320040"/>
          </a:xfrm>
          <a:prstGeom prst="rect">
            <a:avLst/>
          </a:prstGeom>
          <a:noFill/>
          <a:ln/>
        </p:spPr>
        <p:txBody>
          <a:bodyPr wrap="square" lIns="0" tIns="0" rIns="0" bIns="0" rtlCol="0" anchor="ctr"/>
          <a:lstStyle/>
          <a:p>
            <a:pPr marL="0" indent="0" algn="ctr">
              <a:buNone/>
            </a:pPr>
            <a:r>
              <a:rPr lang="en-US" sz="1300" b="1" dirty="0">
                <a:solidFill>
                  <a:srgbClr val="1B365D"/>
                </a:solidFill>
                <a:latin typeface="Arial" pitchFamily="34" charset="0"/>
                <a:ea typeface="Arial" pitchFamily="34" charset="-122"/>
                <a:cs typeface="Arial" pitchFamily="34" charset="-120"/>
              </a:rPr>
              <a:t>Service-Oriented</a:t>
            </a:r>
            <a:endParaRPr lang="en-US" sz="1300" dirty="0"/>
          </a:p>
        </p:txBody>
      </p:sp>
      <p:sp>
        <p:nvSpPr>
          <p:cNvPr id="19" name="Text 13"/>
          <p:cNvSpPr/>
          <p:nvPr/>
        </p:nvSpPr>
        <p:spPr>
          <a:xfrm>
            <a:off x="6355080" y="4114800"/>
            <a:ext cx="2468880" cy="365760"/>
          </a:xfrm>
          <a:prstGeom prst="rect">
            <a:avLst/>
          </a:prstGeom>
          <a:noFill/>
          <a:ln/>
        </p:spPr>
        <p:txBody>
          <a:bodyPr wrap="square" rtlCol="0" anchor="ctr"/>
          <a:lstStyle/>
          <a:p>
            <a:pPr marL="0" indent="0" algn="ctr">
              <a:buNone/>
            </a:pPr>
            <a:r>
              <a:rPr lang="en-US" sz="1200" dirty="0">
                <a:solidFill>
                  <a:srgbClr val="1A2332"/>
                </a:solidFill>
                <a:latin typeface="Arial" pitchFamily="34" charset="0"/>
                <a:ea typeface="Arial" pitchFamily="34" charset="-122"/>
                <a:cs typeface="Arial" pitchFamily="34" charset="-120"/>
              </a:rPr>
              <a:t>Use knowledge to bless and protect others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65D"/>
          </a:solidFill>
          <a:ln/>
        </p:spPr>
      </p:sp>
      <p:sp>
        <p:nvSpPr>
          <p:cNvPr id="3" name="Text 1"/>
          <p:cNvSpPr/>
          <p:nvPr/>
        </p:nvSpPr>
        <p:spPr>
          <a:xfrm>
            <a:off x="457200" y="137160"/>
            <a:ext cx="8229600" cy="3657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Detailed Action Plan</a:t>
            </a:r>
            <a:endParaRPr lang="en-US" sz="2400" dirty="0"/>
          </a:p>
        </p:txBody>
      </p:sp>
      <p:sp>
        <p:nvSpPr>
          <p:cNvPr id="4" name="Text 2"/>
          <p:cNvSpPr/>
          <p:nvPr/>
        </p:nvSpPr>
        <p:spPr>
          <a:xfrm>
            <a:off x="365760" y="777240"/>
            <a:ext cx="4114800" cy="274320"/>
          </a:xfrm>
          <a:prstGeom prst="rect">
            <a:avLst/>
          </a:prstGeom>
          <a:noFill/>
          <a:ln/>
        </p:spPr>
        <p:txBody>
          <a:bodyPr wrap="square" lIns="0" tIns="0" rIns="0" bIns="0" rtlCol="0" anchor="ctr"/>
          <a:lstStyle/>
          <a:p>
            <a:pPr marL="0" indent="0">
              <a:buNone/>
            </a:pPr>
            <a:r>
              <a:rPr lang="en-US" sz="1300" b="1" dirty="0">
                <a:solidFill>
                  <a:srgbClr val="1B365D"/>
                </a:solidFill>
                <a:latin typeface="Arial" pitchFamily="34" charset="0"/>
                <a:ea typeface="Arial" pitchFamily="34" charset="-122"/>
                <a:cs typeface="Arial" pitchFamily="34" charset="-120"/>
              </a:rPr>
              <a:t>Spiritual Development Goals</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4206240" cy="3474720"/>
        </p:xfrm>
        <a:graphic>
          <a:graphicData uri="http://schemas.openxmlformats.org/drawingml/2006/table">
            <a:tbl>
              <a:tblPr/>
              <a:tblGrid>
                <a:gridCol w="1645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579120">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Goal</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1B365D"/>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Action</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1B365D"/>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Timeline</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1B365D"/>
                    </a:solidFill>
                  </a:tcPr>
                </a:tc>
                <a:extLst>
                  <a:ext uri="{0D108BD9-81ED-4DB2-BD59-A6C34878D82A}">
                    <a16:rowId xmlns:a16="http://schemas.microsoft.com/office/drawing/2014/main" val="10000"/>
                  </a:ext>
                </a:extLst>
              </a:tr>
              <a:tr h="579120">
                <a:tc>
                  <a:txBody>
                    <a:bodyPr/>
                    <a:lstStyle/>
                    <a:p>
                      <a:pPr marL="0" indent="0" algn="l">
                        <a:buNone/>
                      </a:pPr>
                      <a:r>
                        <a:rPr lang="en-US" sz="1000" b="1" dirty="0">
                          <a:solidFill>
                            <a:srgbClr val="1A2332"/>
                          </a:solidFill>
                          <a:latin typeface="Arial" pitchFamily="34" charset="0"/>
                          <a:ea typeface="Arial" pitchFamily="34" charset="-122"/>
                          <a:cs typeface="Arial" pitchFamily="34" charset="-120"/>
                        </a:rPr>
                        <a:t>Strengthen relationship with God</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332"/>
                          </a:solidFill>
                          <a:latin typeface="Arial" pitchFamily="34" charset="0"/>
                          <a:ea typeface="Arial" pitchFamily="34" charset="-122"/>
                          <a:cs typeface="Arial" pitchFamily="34" charset="-120"/>
                        </a:rPr>
                        <a:t>Consistent prayer &amp; scripture study</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332"/>
                          </a:solidFill>
                          <a:latin typeface="Arial" pitchFamily="34" charset="0"/>
                          <a:ea typeface="Arial" pitchFamily="34" charset="-122"/>
                          <a:cs typeface="Arial" pitchFamily="34" charset="-120"/>
                        </a:rPr>
                        <a:t>Daily</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9120">
                <a:tc>
                  <a:txBody>
                    <a:bodyPr/>
                    <a:lstStyle/>
                    <a:p>
                      <a:pPr marL="0" indent="0" algn="l">
                        <a:buNone/>
                      </a:pPr>
                      <a:r>
                        <a:rPr lang="en-US" sz="1000" b="1" dirty="0">
                          <a:solidFill>
                            <a:srgbClr val="1A2332"/>
                          </a:solidFill>
                          <a:latin typeface="Arial" pitchFamily="34" charset="0"/>
                          <a:ea typeface="Arial" pitchFamily="34" charset="-122"/>
                          <a:cs typeface="Arial" pitchFamily="34" charset="-120"/>
                        </a:rPr>
                        <a:t>Increase spiritual self-reliance</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E8F1F8"/>
                    </a:solidFill>
                  </a:tcPr>
                </a:tc>
                <a:tc>
                  <a:txBody>
                    <a:bodyPr/>
                    <a:lstStyle/>
                    <a:p>
                      <a:pPr marL="0" indent="0" algn="l">
                        <a:buNone/>
                      </a:pPr>
                      <a:r>
                        <a:rPr lang="en-US" sz="1000" dirty="0">
                          <a:solidFill>
                            <a:srgbClr val="1A2332"/>
                          </a:solidFill>
                          <a:latin typeface="Arial" pitchFamily="34" charset="0"/>
                          <a:ea typeface="Arial" pitchFamily="34" charset="-122"/>
                          <a:cs typeface="Arial" pitchFamily="34" charset="-120"/>
                        </a:rPr>
                        <a:t>Seek God's guidance in decisions</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E8F1F8"/>
                    </a:solidFill>
                  </a:tcPr>
                </a:tc>
                <a:tc>
                  <a:txBody>
                    <a:bodyPr/>
                    <a:lstStyle/>
                    <a:p>
                      <a:pPr marL="0" indent="0" algn="ctr">
                        <a:buNone/>
                      </a:pPr>
                      <a:r>
                        <a:rPr lang="en-US" sz="1000" dirty="0">
                          <a:solidFill>
                            <a:srgbClr val="1A2332"/>
                          </a:solidFill>
                          <a:latin typeface="Arial" pitchFamily="34" charset="0"/>
                          <a:ea typeface="Arial" pitchFamily="34" charset="-122"/>
                          <a:cs typeface="Arial" pitchFamily="34" charset="-120"/>
                        </a:rPr>
                        <a:t>Ongoing</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E8F1F8"/>
                    </a:solidFill>
                  </a:tcPr>
                </a:tc>
                <a:extLst>
                  <a:ext uri="{0D108BD9-81ED-4DB2-BD59-A6C34878D82A}">
                    <a16:rowId xmlns:a16="http://schemas.microsoft.com/office/drawing/2014/main" val="10002"/>
                  </a:ext>
                </a:extLst>
              </a:tr>
              <a:tr h="579120">
                <a:tc>
                  <a:txBody>
                    <a:bodyPr/>
                    <a:lstStyle/>
                    <a:p>
                      <a:pPr marL="0" indent="0" algn="l">
                        <a:buNone/>
                      </a:pPr>
                      <a:r>
                        <a:rPr lang="en-US" sz="1000" b="1" dirty="0">
                          <a:solidFill>
                            <a:srgbClr val="1A2332"/>
                          </a:solidFill>
                          <a:latin typeface="Arial" pitchFamily="34" charset="0"/>
                          <a:ea typeface="Arial" pitchFamily="34" charset="-122"/>
                          <a:cs typeface="Arial" pitchFamily="34" charset="-120"/>
                        </a:rPr>
                        <a:t>Become more Christlike</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332"/>
                          </a:solidFill>
                          <a:latin typeface="Arial" pitchFamily="34" charset="0"/>
                          <a:ea typeface="Arial" pitchFamily="34" charset="-122"/>
                          <a:cs typeface="Arial" pitchFamily="34" charset="-120"/>
                        </a:rPr>
                        <a:t>Practice integrity, humility, service</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332"/>
                          </a:solidFill>
                          <a:latin typeface="Arial" pitchFamily="34" charset="0"/>
                          <a:ea typeface="Arial" pitchFamily="34" charset="-122"/>
                          <a:cs typeface="Arial" pitchFamily="34" charset="-120"/>
                        </a:rPr>
                        <a:t>Ongoing</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9120">
                <a:tc>
                  <a:txBody>
                    <a:bodyPr/>
                    <a:lstStyle/>
                    <a:p>
                      <a:pPr marL="0" indent="0" algn="l">
                        <a:buNone/>
                      </a:pPr>
                      <a:r>
                        <a:rPr lang="en-US" sz="1000" b="1" dirty="0">
                          <a:solidFill>
                            <a:srgbClr val="1A2332"/>
                          </a:solidFill>
                          <a:latin typeface="Arial" pitchFamily="34" charset="0"/>
                          <a:ea typeface="Arial" pitchFamily="34" charset="-122"/>
                          <a:cs typeface="Arial" pitchFamily="34" charset="-120"/>
                        </a:rPr>
                        <a:t>Serve others intentionally</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E8F1F8"/>
                    </a:solidFill>
                  </a:tcPr>
                </a:tc>
                <a:tc>
                  <a:txBody>
                    <a:bodyPr/>
                    <a:lstStyle/>
                    <a:p>
                      <a:pPr marL="0" indent="0" algn="l">
                        <a:buNone/>
                      </a:pPr>
                      <a:r>
                        <a:rPr lang="en-US" sz="1000" dirty="0">
                          <a:solidFill>
                            <a:srgbClr val="1A2332"/>
                          </a:solidFill>
                          <a:latin typeface="Arial" pitchFamily="34" charset="0"/>
                          <a:ea typeface="Arial" pitchFamily="34" charset="-122"/>
                          <a:cs typeface="Arial" pitchFamily="34" charset="-120"/>
                        </a:rPr>
                        <a:t>Look for meaningful service opportunities</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E8F1F8"/>
                    </a:solidFill>
                  </a:tcPr>
                </a:tc>
                <a:tc>
                  <a:txBody>
                    <a:bodyPr/>
                    <a:lstStyle/>
                    <a:p>
                      <a:pPr marL="0" indent="0" algn="ctr">
                        <a:buNone/>
                      </a:pPr>
                      <a:r>
                        <a:rPr lang="en-US" sz="1000" dirty="0">
                          <a:solidFill>
                            <a:srgbClr val="1A2332"/>
                          </a:solidFill>
                          <a:latin typeface="Arial" pitchFamily="34" charset="0"/>
                          <a:ea typeface="Arial" pitchFamily="34" charset="-122"/>
                          <a:cs typeface="Arial" pitchFamily="34" charset="-120"/>
                        </a:rPr>
                        <a:t>Monthly</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E8F1F8"/>
                    </a:solidFill>
                  </a:tcPr>
                </a:tc>
                <a:extLst>
                  <a:ext uri="{0D108BD9-81ED-4DB2-BD59-A6C34878D82A}">
                    <a16:rowId xmlns:a16="http://schemas.microsoft.com/office/drawing/2014/main" val="10004"/>
                  </a:ext>
                </a:extLst>
              </a:tr>
              <a:tr h="579120">
                <a:tc>
                  <a:txBody>
                    <a:bodyPr/>
                    <a:lstStyle/>
                    <a:p>
                      <a:pPr marL="0" indent="0" algn="l">
                        <a:buNone/>
                      </a:pPr>
                      <a:r>
                        <a:rPr lang="en-US" sz="1000" b="1" dirty="0">
                          <a:solidFill>
                            <a:srgbClr val="1A2332"/>
                          </a:solidFill>
                          <a:latin typeface="Arial" pitchFamily="34" charset="0"/>
                          <a:ea typeface="Arial" pitchFamily="34" charset="-122"/>
                          <a:cs typeface="Arial" pitchFamily="34" charset="-120"/>
                        </a:rPr>
                        <a:t>Strengthen my faith</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332"/>
                          </a:solidFill>
                          <a:latin typeface="Arial" pitchFamily="34" charset="0"/>
                          <a:ea typeface="Arial" pitchFamily="34" charset="-122"/>
                          <a:cs typeface="Arial" pitchFamily="34" charset="-120"/>
                        </a:rPr>
                        <a:t>Reflect on spiritual experiences</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332"/>
                          </a:solidFill>
                          <a:latin typeface="Arial" pitchFamily="34" charset="0"/>
                          <a:ea typeface="Arial" pitchFamily="34" charset="-122"/>
                          <a:cs typeface="Arial" pitchFamily="34" charset="-120"/>
                        </a:rPr>
                        <a:t>Weekly</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4754880" y="777240"/>
            <a:ext cx="4114800" cy="274320"/>
          </a:xfrm>
          <a:prstGeom prst="rect">
            <a:avLst/>
          </a:prstGeom>
          <a:noFill/>
          <a:ln/>
        </p:spPr>
        <p:txBody>
          <a:bodyPr wrap="square" lIns="0" tIns="0" rIns="0" bIns="0" rtlCol="0" anchor="ctr"/>
          <a:lstStyle/>
          <a:p>
            <a:pPr marL="0" indent="0">
              <a:buNone/>
            </a:pPr>
            <a:r>
              <a:rPr lang="en-US" sz="1300" b="1" dirty="0">
                <a:solidFill>
                  <a:srgbClr val="1B365D"/>
                </a:solidFill>
                <a:latin typeface="Arial" pitchFamily="34" charset="0"/>
                <a:ea typeface="Arial" pitchFamily="34" charset="-122"/>
                <a:cs typeface="Arial" pitchFamily="34" charset="-120"/>
              </a:rPr>
              <a:t>Professional / Technical Goals</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663440" y="1097280"/>
          <a:ext cx="4206240" cy="3474720"/>
        </p:xfrm>
        <a:graphic>
          <a:graphicData uri="http://schemas.openxmlformats.org/drawingml/2006/table">
            <a:tbl>
              <a:tblPr/>
              <a:tblGrid>
                <a:gridCol w="1645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579120">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Goal</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2E5A88"/>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Action</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2E5A88"/>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Timeline</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2E5A88"/>
                    </a:solidFill>
                  </a:tcPr>
                </a:tc>
                <a:extLst>
                  <a:ext uri="{0D108BD9-81ED-4DB2-BD59-A6C34878D82A}">
                    <a16:rowId xmlns:a16="http://schemas.microsoft.com/office/drawing/2014/main" val="10000"/>
                  </a:ext>
                </a:extLst>
              </a:tr>
              <a:tr h="579120">
                <a:tc>
                  <a:txBody>
                    <a:bodyPr/>
                    <a:lstStyle/>
                    <a:p>
                      <a:pPr marL="0" indent="0" algn="l">
                        <a:buNone/>
                      </a:pPr>
                      <a:r>
                        <a:rPr lang="en-US" sz="1000" b="1" dirty="0">
                          <a:solidFill>
                            <a:srgbClr val="1A2332"/>
                          </a:solidFill>
                          <a:latin typeface="Arial" pitchFamily="34" charset="0"/>
                          <a:ea typeface="Arial" pitchFamily="34" charset="-122"/>
                          <a:cs typeface="Arial" pitchFamily="34" charset="-120"/>
                        </a:rPr>
                        <a:t>Strengthen cloud skills</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332"/>
                          </a:solidFill>
                          <a:latin typeface="Arial" pitchFamily="34" charset="0"/>
                          <a:ea typeface="Arial" pitchFamily="34" charset="-122"/>
                          <a:cs typeface="Arial" pitchFamily="34" charset="-120"/>
                        </a:rPr>
                        <a:t>Complete practical labs &amp; projects</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332"/>
                          </a:solidFill>
                          <a:latin typeface="Arial" pitchFamily="34" charset="0"/>
                          <a:ea typeface="Arial" pitchFamily="34" charset="-122"/>
                          <a:cs typeface="Arial" pitchFamily="34" charset="-120"/>
                        </a:rPr>
                        <a:t>3–6 months</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9120">
                <a:tc>
                  <a:txBody>
                    <a:bodyPr/>
                    <a:lstStyle/>
                    <a:p>
                      <a:pPr marL="0" indent="0" algn="l">
                        <a:buNone/>
                      </a:pPr>
                      <a:r>
                        <a:rPr lang="en-US" sz="1000" b="1" dirty="0">
                          <a:solidFill>
                            <a:srgbClr val="1A2332"/>
                          </a:solidFill>
                          <a:latin typeface="Arial" pitchFamily="34" charset="0"/>
                          <a:ea typeface="Arial" pitchFamily="34" charset="-122"/>
                          <a:cs typeface="Arial" pitchFamily="34" charset="-120"/>
                        </a:rPr>
                        <a:t>Improve cybersecurity knowledge</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E8F1F8"/>
                    </a:solidFill>
                  </a:tcPr>
                </a:tc>
                <a:tc>
                  <a:txBody>
                    <a:bodyPr/>
                    <a:lstStyle/>
                    <a:p>
                      <a:pPr marL="0" indent="0" algn="l">
                        <a:buNone/>
                      </a:pPr>
                      <a:r>
                        <a:rPr lang="en-US" sz="1000" dirty="0">
                          <a:solidFill>
                            <a:srgbClr val="1A2332"/>
                          </a:solidFill>
                          <a:latin typeface="Arial" pitchFamily="34" charset="0"/>
                          <a:ea typeface="Arial" pitchFamily="34" charset="-122"/>
                          <a:cs typeface="Arial" pitchFamily="34" charset="-120"/>
                        </a:rPr>
                        <a:t>Study concepts &amp; complete training</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E8F1F8"/>
                    </a:solidFill>
                  </a:tcPr>
                </a:tc>
                <a:tc>
                  <a:txBody>
                    <a:bodyPr/>
                    <a:lstStyle/>
                    <a:p>
                      <a:pPr marL="0" indent="0" algn="ctr">
                        <a:buNone/>
                      </a:pPr>
                      <a:r>
                        <a:rPr lang="en-US" sz="1000" dirty="0">
                          <a:solidFill>
                            <a:srgbClr val="1A2332"/>
                          </a:solidFill>
                          <a:latin typeface="Arial" pitchFamily="34" charset="0"/>
                          <a:ea typeface="Arial" pitchFamily="34" charset="-122"/>
                          <a:cs typeface="Arial" pitchFamily="34" charset="-120"/>
                        </a:rPr>
                        <a:t>6 months</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E8F1F8"/>
                    </a:solidFill>
                  </a:tcPr>
                </a:tc>
                <a:extLst>
                  <a:ext uri="{0D108BD9-81ED-4DB2-BD59-A6C34878D82A}">
                    <a16:rowId xmlns:a16="http://schemas.microsoft.com/office/drawing/2014/main" val="10002"/>
                  </a:ext>
                </a:extLst>
              </a:tr>
              <a:tr h="579120">
                <a:tc>
                  <a:txBody>
                    <a:bodyPr/>
                    <a:lstStyle/>
                    <a:p>
                      <a:pPr marL="0" indent="0" algn="l">
                        <a:buNone/>
                      </a:pPr>
                      <a:r>
                        <a:rPr lang="en-US" sz="1000" b="1" dirty="0">
                          <a:solidFill>
                            <a:srgbClr val="1A2332"/>
                          </a:solidFill>
                          <a:latin typeface="Arial" pitchFamily="34" charset="0"/>
                          <a:ea typeface="Arial" pitchFamily="34" charset="-122"/>
                          <a:cs typeface="Arial" pitchFamily="34" charset="-120"/>
                        </a:rPr>
                        <a:t>Build professional portfolio</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332"/>
                          </a:solidFill>
                          <a:latin typeface="Arial" pitchFamily="34" charset="0"/>
                          <a:ea typeface="Arial" pitchFamily="34" charset="-122"/>
                          <a:cs typeface="Arial" pitchFamily="34" charset="-120"/>
                        </a:rPr>
                        <a:t>Document projects &amp; achievements</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332"/>
                          </a:solidFill>
                          <a:latin typeface="Arial" pitchFamily="34" charset="0"/>
                          <a:ea typeface="Arial" pitchFamily="34" charset="-122"/>
                          <a:cs typeface="Arial" pitchFamily="34" charset="-120"/>
                        </a:rPr>
                        <a:t>3–6 months</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9120">
                <a:tc>
                  <a:txBody>
                    <a:bodyPr/>
                    <a:lstStyle/>
                    <a:p>
                      <a:pPr marL="0" indent="0" algn="l">
                        <a:buNone/>
                      </a:pPr>
                      <a:r>
                        <a:rPr lang="en-US" sz="1000" b="1" dirty="0">
                          <a:solidFill>
                            <a:srgbClr val="1A2332"/>
                          </a:solidFill>
                          <a:latin typeface="Arial" pitchFamily="34" charset="0"/>
                          <a:ea typeface="Arial" pitchFamily="34" charset="-122"/>
                          <a:cs typeface="Arial" pitchFamily="34" charset="-120"/>
                        </a:rPr>
                        <a:t>Improve communication</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E8F1F8"/>
                    </a:solidFill>
                  </a:tcPr>
                </a:tc>
                <a:tc>
                  <a:txBody>
                    <a:bodyPr/>
                    <a:lstStyle/>
                    <a:p>
                      <a:pPr marL="0" indent="0" algn="l">
                        <a:buNone/>
                      </a:pPr>
                      <a:r>
                        <a:rPr lang="en-US" sz="1000" dirty="0">
                          <a:solidFill>
                            <a:srgbClr val="1A2332"/>
                          </a:solidFill>
                          <a:latin typeface="Arial" pitchFamily="34" charset="0"/>
                          <a:ea typeface="Arial" pitchFamily="34" charset="-122"/>
                          <a:cs typeface="Arial" pitchFamily="34" charset="-120"/>
                        </a:rPr>
                        <a:t>Practice technical writing &amp; presentations</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E8F1F8"/>
                    </a:solidFill>
                  </a:tcPr>
                </a:tc>
                <a:tc>
                  <a:txBody>
                    <a:bodyPr/>
                    <a:lstStyle/>
                    <a:p>
                      <a:pPr marL="0" indent="0" algn="ctr">
                        <a:buNone/>
                      </a:pPr>
                      <a:r>
                        <a:rPr lang="en-US" sz="1000" dirty="0">
                          <a:solidFill>
                            <a:srgbClr val="1A2332"/>
                          </a:solidFill>
                          <a:latin typeface="Arial" pitchFamily="34" charset="0"/>
                          <a:ea typeface="Arial" pitchFamily="34" charset="-122"/>
                          <a:cs typeface="Arial" pitchFamily="34" charset="-120"/>
                        </a:rPr>
                        <a:t>Ongoing</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E8F1F8"/>
                    </a:solidFill>
                  </a:tcPr>
                </a:tc>
                <a:extLst>
                  <a:ext uri="{0D108BD9-81ED-4DB2-BD59-A6C34878D82A}">
                    <a16:rowId xmlns:a16="http://schemas.microsoft.com/office/drawing/2014/main" val="10004"/>
                  </a:ext>
                </a:extLst>
              </a:tr>
              <a:tr h="579120">
                <a:tc>
                  <a:txBody>
                    <a:bodyPr/>
                    <a:lstStyle/>
                    <a:p>
                      <a:pPr marL="0" indent="0" algn="l">
                        <a:buNone/>
                      </a:pPr>
                      <a:r>
                        <a:rPr lang="en-US" sz="1000" b="1" dirty="0">
                          <a:solidFill>
                            <a:srgbClr val="1A2332"/>
                          </a:solidFill>
                          <a:latin typeface="Arial" pitchFamily="34" charset="0"/>
                          <a:ea typeface="Arial" pitchFamily="34" charset="-122"/>
                          <a:cs typeface="Arial" pitchFamily="34" charset="-120"/>
                        </a:rPr>
                        <a:t>Gain professional experience</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A2332"/>
                          </a:solidFill>
                          <a:latin typeface="Arial" pitchFamily="34" charset="0"/>
                          <a:ea typeface="Arial" pitchFamily="34" charset="-122"/>
                          <a:cs typeface="Arial" pitchFamily="34" charset="-120"/>
                        </a:rPr>
                        <a:t>Apply for internships/jobs/projects</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2332"/>
                          </a:solidFill>
                          <a:latin typeface="Arial" pitchFamily="34" charset="0"/>
                          <a:ea typeface="Arial" pitchFamily="34" charset="-122"/>
                          <a:cs typeface="Arial" pitchFamily="34" charset="-120"/>
                        </a:rPr>
                        <a:t>Monthly</a:t>
                      </a:r>
                      <a:endParaRPr lang="en-US" sz="1000" dirty="0">
                        <a:latin typeface="Arial" charset="0"/>
                        <a:ea typeface="Arial" charset="0"/>
                        <a:cs typeface="Arial" charset="0"/>
                      </a:endParaRPr>
                    </a:p>
                  </a:txBody>
                  <a:tcPr anchor="ctr">
                    <a:lnL w="6350" cap="flat" cmpd="sng" algn="ctr">
                      <a:solidFill>
                        <a:srgbClr val="E8EEF4"/>
                      </a:solidFill>
                      <a:prstDash val="solid"/>
                      <a:round/>
                      <a:headEnd type="none" w="med" len="med"/>
                      <a:tailEnd type="none" w="med" len="med"/>
                    </a:lnL>
                    <a:lnR w="6350" cap="flat" cmpd="sng" algn="ctr">
                      <a:solidFill>
                        <a:srgbClr val="E8EEF4"/>
                      </a:solidFill>
                      <a:prstDash val="solid"/>
                      <a:round/>
                      <a:headEnd type="none" w="med" len="med"/>
                      <a:tailEnd type="none" w="med" len="med"/>
                    </a:lnR>
                    <a:lnT w="6350" cap="flat" cmpd="sng" algn="ctr">
                      <a:solidFill>
                        <a:srgbClr val="E8EEF4"/>
                      </a:solidFill>
                      <a:prstDash val="solid"/>
                      <a:round/>
                      <a:headEnd type="none" w="med" len="med"/>
                      <a:tailEnd type="none" w="med" len="med"/>
                    </a:lnT>
                    <a:lnB w="6350" cap="flat" cmpd="sng" algn="ctr">
                      <a:solidFill>
                        <a:srgbClr val="E8EEF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65D"/>
          </a:solidFill>
          <a:ln/>
        </p:spPr>
      </p:sp>
      <p:sp>
        <p:nvSpPr>
          <p:cNvPr id="3" name="Text 1"/>
          <p:cNvSpPr/>
          <p:nvPr/>
        </p:nvSpPr>
        <p:spPr>
          <a:xfrm>
            <a:off x="457200" y="137160"/>
            <a:ext cx="8229600" cy="3657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My Commitment as a Disciple</a:t>
            </a:r>
            <a:endParaRPr lang="en-US" sz="2400" dirty="0"/>
          </a:p>
        </p:txBody>
      </p:sp>
      <p:sp>
        <p:nvSpPr>
          <p:cNvPr id="4" name="Shape 2"/>
          <p:cNvSpPr/>
          <p:nvPr/>
        </p:nvSpPr>
        <p:spPr>
          <a:xfrm>
            <a:off x="365760" y="914400"/>
            <a:ext cx="4114800" cy="822960"/>
          </a:xfrm>
          <a:prstGeom prst="roundRect">
            <a:avLst>
              <a:gd name="adj" fmla="val 8889"/>
            </a:avLst>
          </a:prstGeom>
          <a:solidFill>
            <a:srgbClr val="FFFFFF"/>
          </a:solidFill>
          <a:ln/>
          <a:effectLst>
            <a:outerShdw blurRad="101600" dist="25400" dir="8100000" algn="bl" rotWithShape="0">
              <a:srgbClr val="000000">
                <a:alpha val="10000"/>
              </a:srgbClr>
            </a:outerShdw>
          </a:effectLst>
        </p:spPr>
      </p:sp>
      <p:pic>
        <p:nvPicPr>
          <p:cNvPr id="5" name="Image 0" descr="preencoded.png"/>
          <p:cNvPicPr>
            <a:picLocks noChangeAspect="1"/>
          </p:cNvPicPr>
          <p:nvPr/>
        </p:nvPicPr>
        <p:blipFill>
          <a:blip r:embed="rId3"/>
          <a:stretch>
            <a:fillRect/>
          </a:stretch>
        </p:blipFill>
        <p:spPr>
          <a:xfrm>
            <a:off x="548640" y="1143000"/>
            <a:ext cx="365760" cy="365760"/>
          </a:xfrm>
          <a:prstGeom prst="rect">
            <a:avLst/>
          </a:prstGeom>
        </p:spPr>
      </p:pic>
      <p:sp>
        <p:nvSpPr>
          <p:cNvPr id="6" name="Text 3"/>
          <p:cNvSpPr/>
          <p:nvPr/>
        </p:nvSpPr>
        <p:spPr>
          <a:xfrm>
            <a:off x="1051560" y="1097280"/>
            <a:ext cx="3200400" cy="457200"/>
          </a:xfrm>
          <a:prstGeom prst="rect">
            <a:avLst/>
          </a:prstGeom>
          <a:noFill/>
          <a:ln/>
        </p:spPr>
        <p:txBody>
          <a:bodyPr wrap="square" rtlCol="0" anchor="ctr"/>
          <a:lstStyle/>
          <a:p>
            <a:pPr marL="0" indent="0">
              <a:buNone/>
            </a:pPr>
            <a:r>
              <a:rPr lang="en-US" sz="1300" dirty="0">
                <a:solidFill>
                  <a:srgbClr val="1A2332"/>
                </a:solidFill>
                <a:latin typeface="Arial" pitchFamily="34" charset="0"/>
                <a:ea typeface="Arial" pitchFamily="34" charset="-122"/>
                <a:cs typeface="Arial" pitchFamily="34" charset="-120"/>
              </a:rPr>
              <a:t>I will seek God's guidance in my decisions.</a:t>
            </a:r>
            <a:endParaRPr lang="en-US" sz="1300" dirty="0"/>
          </a:p>
        </p:txBody>
      </p:sp>
      <p:sp>
        <p:nvSpPr>
          <p:cNvPr id="7" name="Shape 4"/>
          <p:cNvSpPr/>
          <p:nvPr/>
        </p:nvSpPr>
        <p:spPr>
          <a:xfrm>
            <a:off x="4754880" y="914400"/>
            <a:ext cx="4114800" cy="822960"/>
          </a:xfrm>
          <a:prstGeom prst="roundRect">
            <a:avLst>
              <a:gd name="adj" fmla="val 8889"/>
            </a:avLst>
          </a:prstGeom>
          <a:solidFill>
            <a:srgbClr val="FFFFFF"/>
          </a:solidFill>
          <a:ln/>
          <a:effectLst>
            <a:outerShdw blurRad="101600" dist="25400" dir="8100000" algn="bl" rotWithShape="0">
              <a:srgbClr val="000000">
                <a:alpha val="10000"/>
              </a:srgbClr>
            </a:outerShdw>
          </a:effectLst>
        </p:spPr>
      </p:sp>
      <p:pic>
        <p:nvPicPr>
          <p:cNvPr id="8" name="Image 1" descr="preencoded.png"/>
          <p:cNvPicPr>
            <a:picLocks noChangeAspect="1"/>
          </p:cNvPicPr>
          <p:nvPr/>
        </p:nvPicPr>
        <p:blipFill>
          <a:blip r:embed="rId4"/>
          <a:stretch>
            <a:fillRect/>
          </a:stretch>
        </p:blipFill>
        <p:spPr>
          <a:xfrm>
            <a:off x="4937760" y="1143000"/>
            <a:ext cx="365760" cy="365760"/>
          </a:xfrm>
          <a:prstGeom prst="rect">
            <a:avLst/>
          </a:prstGeom>
        </p:spPr>
      </p:pic>
      <p:sp>
        <p:nvSpPr>
          <p:cNvPr id="9" name="Text 5"/>
          <p:cNvSpPr/>
          <p:nvPr/>
        </p:nvSpPr>
        <p:spPr>
          <a:xfrm>
            <a:off x="5440680" y="1097280"/>
            <a:ext cx="3200400" cy="457200"/>
          </a:xfrm>
          <a:prstGeom prst="rect">
            <a:avLst/>
          </a:prstGeom>
          <a:noFill/>
          <a:ln/>
        </p:spPr>
        <p:txBody>
          <a:bodyPr wrap="square" rtlCol="0" anchor="ctr"/>
          <a:lstStyle/>
          <a:p>
            <a:pPr marL="0" indent="0">
              <a:buNone/>
            </a:pPr>
            <a:r>
              <a:rPr lang="en-US" sz="1300" dirty="0">
                <a:solidFill>
                  <a:srgbClr val="1A2332"/>
                </a:solidFill>
                <a:latin typeface="Arial" pitchFamily="34" charset="0"/>
                <a:ea typeface="Arial" pitchFamily="34" charset="-122"/>
                <a:cs typeface="Arial" pitchFamily="34" charset="-120"/>
              </a:rPr>
              <a:t>I will continue developing my talents and skills.</a:t>
            </a:r>
            <a:endParaRPr lang="en-US" sz="1300" dirty="0"/>
          </a:p>
        </p:txBody>
      </p:sp>
      <p:sp>
        <p:nvSpPr>
          <p:cNvPr id="10" name="Shape 6"/>
          <p:cNvSpPr/>
          <p:nvPr/>
        </p:nvSpPr>
        <p:spPr>
          <a:xfrm>
            <a:off x="365760" y="1874520"/>
            <a:ext cx="4114800" cy="822960"/>
          </a:xfrm>
          <a:prstGeom prst="roundRect">
            <a:avLst>
              <a:gd name="adj" fmla="val 8889"/>
            </a:avLst>
          </a:prstGeom>
          <a:solidFill>
            <a:srgbClr val="FFFFFF"/>
          </a:solidFill>
          <a:ln/>
          <a:effectLst>
            <a:outerShdw blurRad="101600" dist="25400" dir="8100000" algn="bl" rotWithShape="0">
              <a:srgbClr val="000000">
                <a:alpha val="10000"/>
              </a:srgbClr>
            </a:outerShdw>
          </a:effectLst>
        </p:spPr>
      </p:sp>
      <p:pic>
        <p:nvPicPr>
          <p:cNvPr id="11" name="Image 2" descr="preencoded.png"/>
          <p:cNvPicPr>
            <a:picLocks noChangeAspect="1"/>
          </p:cNvPicPr>
          <p:nvPr/>
        </p:nvPicPr>
        <p:blipFill>
          <a:blip r:embed="rId5"/>
          <a:stretch>
            <a:fillRect/>
          </a:stretch>
        </p:blipFill>
        <p:spPr>
          <a:xfrm>
            <a:off x="548640" y="2103120"/>
            <a:ext cx="365760" cy="365760"/>
          </a:xfrm>
          <a:prstGeom prst="rect">
            <a:avLst/>
          </a:prstGeom>
        </p:spPr>
      </p:pic>
      <p:sp>
        <p:nvSpPr>
          <p:cNvPr id="12" name="Text 7"/>
          <p:cNvSpPr/>
          <p:nvPr/>
        </p:nvSpPr>
        <p:spPr>
          <a:xfrm>
            <a:off x="1051560" y="2057400"/>
            <a:ext cx="3200400" cy="457200"/>
          </a:xfrm>
          <a:prstGeom prst="rect">
            <a:avLst/>
          </a:prstGeom>
          <a:noFill/>
          <a:ln/>
        </p:spPr>
        <p:txBody>
          <a:bodyPr wrap="square" rtlCol="0" anchor="ctr"/>
          <a:lstStyle/>
          <a:p>
            <a:pPr marL="0" indent="0">
              <a:buNone/>
            </a:pPr>
            <a:r>
              <a:rPr lang="en-US" sz="1300" dirty="0">
                <a:solidFill>
                  <a:srgbClr val="1A2332"/>
                </a:solidFill>
                <a:latin typeface="Arial" pitchFamily="34" charset="0"/>
                <a:ea typeface="Arial" pitchFamily="34" charset="-122"/>
                <a:cs typeface="Arial" pitchFamily="34" charset="-120"/>
              </a:rPr>
              <a:t>I will use my professional abilities to serve others.</a:t>
            </a:r>
            <a:endParaRPr lang="en-US" sz="1300" dirty="0"/>
          </a:p>
        </p:txBody>
      </p:sp>
      <p:sp>
        <p:nvSpPr>
          <p:cNvPr id="13" name="Shape 8"/>
          <p:cNvSpPr/>
          <p:nvPr/>
        </p:nvSpPr>
        <p:spPr>
          <a:xfrm>
            <a:off x="4754880" y="1874520"/>
            <a:ext cx="4114800" cy="822960"/>
          </a:xfrm>
          <a:prstGeom prst="roundRect">
            <a:avLst>
              <a:gd name="adj" fmla="val 8889"/>
            </a:avLst>
          </a:prstGeom>
          <a:solidFill>
            <a:srgbClr val="FFFFFF"/>
          </a:solidFill>
          <a:ln/>
          <a:effectLst>
            <a:outerShdw blurRad="101600" dist="25400" dir="8100000" algn="bl" rotWithShape="0">
              <a:srgbClr val="000000">
                <a:alpha val="10000"/>
              </a:srgbClr>
            </a:outerShdw>
          </a:effectLst>
        </p:spPr>
      </p:sp>
      <p:pic>
        <p:nvPicPr>
          <p:cNvPr id="14" name="Image 3" descr="preencoded.png"/>
          <p:cNvPicPr>
            <a:picLocks noChangeAspect="1"/>
          </p:cNvPicPr>
          <p:nvPr/>
        </p:nvPicPr>
        <p:blipFill>
          <a:blip r:embed="rId6"/>
          <a:stretch>
            <a:fillRect/>
          </a:stretch>
        </p:blipFill>
        <p:spPr>
          <a:xfrm>
            <a:off x="4937760" y="2103120"/>
            <a:ext cx="365760" cy="365760"/>
          </a:xfrm>
          <a:prstGeom prst="rect">
            <a:avLst/>
          </a:prstGeom>
        </p:spPr>
      </p:pic>
      <p:sp>
        <p:nvSpPr>
          <p:cNvPr id="15" name="Text 9"/>
          <p:cNvSpPr/>
          <p:nvPr/>
        </p:nvSpPr>
        <p:spPr>
          <a:xfrm>
            <a:off x="5440680" y="2057400"/>
            <a:ext cx="3200400" cy="457200"/>
          </a:xfrm>
          <a:prstGeom prst="rect">
            <a:avLst/>
          </a:prstGeom>
          <a:noFill/>
          <a:ln/>
        </p:spPr>
        <p:txBody>
          <a:bodyPr wrap="square" rtlCol="0" anchor="ctr"/>
          <a:lstStyle/>
          <a:p>
            <a:pPr marL="0" indent="0">
              <a:buNone/>
            </a:pPr>
            <a:r>
              <a:rPr lang="en-US" sz="1300" dirty="0">
                <a:solidFill>
                  <a:srgbClr val="1A2332"/>
                </a:solidFill>
                <a:latin typeface="Arial" pitchFamily="34" charset="0"/>
                <a:ea typeface="Arial" pitchFamily="34" charset="-122"/>
                <a:cs typeface="Arial" pitchFamily="34" charset="-120"/>
              </a:rPr>
              <a:t>I will act with integrity even when nobody is watching.</a:t>
            </a:r>
            <a:endParaRPr lang="en-US" sz="1300" dirty="0"/>
          </a:p>
        </p:txBody>
      </p:sp>
      <p:sp>
        <p:nvSpPr>
          <p:cNvPr id="16" name="Shape 10"/>
          <p:cNvSpPr/>
          <p:nvPr/>
        </p:nvSpPr>
        <p:spPr>
          <a:xfrm>
            <a:off x="365760" y="2834640"/>
            <a:ext cx="4114800" cy="822960"/>
          </a:xfrm>
          <a:prstGeom prst="roundRect">
            <a:avLst>
              <a:gd name="adj" fmla="val 8889"/>
            </a:avLst>
          </a:prstGeom>
          <a:solidFill>
            <a:srgbClr val="FFFFFF"/>
          </a:solidFill>
          <a:ln/>
          <a:effectLst>
            <a:outerShdw blurRad="101600" dist="25400" dir="8100000" algn="bl" rotWithShape="0">
              <a:srgbClr val="000000">
                <a:alpha val="10000"/>
              </a:srgbClr>
            </a:outerShdw>
          </a:effectLst>
        </p:spPr>
      </p:sp>
      <p:pic>
        <p:nvPicPr>
          <p:cNvPr id="17" name="Image 4" descr="preencoded.png"/>
          <p:cNvPicPr>
            <a:picLocks noChangeAspect="1"/>
          </p:cNvPicPr>
          <p:nvPr/>
        </p:nvPicPr>
        <p:blipFill>
          <a:blip r:embed="rId7"/>
          <a:stretch>
            <a:fillRect/>
          </a:stretch>
        </p:blipFill>
        <p:spPr>
          <a:xfrm>
            <a:off x="548640" y="3063240"/>
            <a:ext cx="365760" cy="365760"/>
          </a:xfrm>
          <a:prstGeom prst="rect">
            <a:avLst/>
          </a:prstGeom>
        </p:spPr>
      </p:pic>
      <p:sp>
        <p:nvSpPr>
          <p:cNvPr id="18" name="Text 11"/>
          <p:cNvSpPr/>
          <p:nvPr/>
        </p:nvSpPr>
        <p:spPr>
          <a:xfrm>
            <a:off x="1051560" y="3017520"/>
            <a:ext cx="3200400" cy="457200"/>
          </a:xfrm>
          <a:prstGeom prst="rect">
            <a:avLst/>
          </a:prstGeom>
          <a:noFill/>
          <a:ln/>
        </p:spPr>
        <p:txBody>
          <a:bodyPr wrap="square" rtlCol="0" anchor="ctr"/>
          <a:lstStyle/>
          <a:p>
            <a:pPr marL="0" indent="0">
              <a:buNone/>
            </a:pPr>
            <a:r>
              <a:rPr lang="en-US" sz="1300" dirty="0">
                <a:solidFill>
                  <a:srgbClr val="1A2332"/>
                </a:solidFill>
                <a:latin typeface="Arial" pitchFamily="34" charset="0"/>
                <a:ea typeface="Arial" pitchFamily="34" charset="-122"/>
                <a:cs typeface="Arial" pitchFamily="34" charset="-120"/>
              </a:rPr>
              <a:t>I will remain teachable and continue lifelong learning.</a:t>
            </a:r>
            <a:endParaRPr lang="en-US" sz="1300" dirty="0"/>
          </a:p>
        </p:txBody>
      </p:sp>
      <p:sp>
        <p:nvSpPr>
          <p:cNvPr id="19" name="Shape 12"/>
          <p:cNvSpPr/>
          <p:nvPr/>
        </p:nvSpPr>
        <p:spPr>
          <a:xfrm>
            <a:off x="4754880" y="2834640"/>
            <a:ext cx="4114800" cy="822960"/>
          </a:xfrm>
          <a:prstGeom prst="roundRect">
            <a:avLst>
              <a:gd name="adj" fmla="val 8889"/>
            </a:avLst>
          </a:prstGeom>
          <a:solidFill>
            <a:srgbClr val="FFFFFF"/>
          </a:solidFill>
          <a:ln/>
          <a:effectLst>
            <a:outerShdw blurRad="101600" dist="25400" dir="8100000" algn="bl" rotWithShape="0">
              <a:srgbClr val="000000">
                <a:alpha val="10000"/>
              </a:srgbClr>
            </a:outerShdw>
          </a:effectLst>
        </p:spPr>
      </p:sp>
      <p:pic>
        <p:nvPicPr>
          <p:cNvPr id="20" name="Image 5" descr="preencoded.png"/>
          <p:cNvPicPr>
            <a:picLocks noChangeAspect="1"/>
          </p:cNvPicPr>
          <p:nvPr/>
        </p:nvPicPr>
        <p:blipFill>
          <a:blip r:embed="rId8"/>
          <a:stretch>
            <a:fillRect/>
          </a:stretch>
        </p:blipFill>
        <p:spPr>
          <a:xfrm>
            <a:off x="4937760" y="3063240"/>
            <a:ext cx="365760" cy="365760"/>
          </a:xfrm>
          <a:prstGeom prst="rect">
            <a:avLst/>
          </a:prstGeom>
        </p:spPr>
      </p:pic>
      <p:sp>
        <p:nvSpPr>
          <p:cNvPr id="21" name="Text 13"/>
          <p:cNvSpPr/>
          <p:nvPr/>
        </p:nvSpPr>
        <p:spPr>
          <a:xfrm>
            <a:off x="5440680" y="3017520"/>
            <a:ext cx="3200400" cy="457200"/>
          </a:xfrm>
          <a:prstGeom prst="rect">
            <a:avLst/>
          </a:prstGeom>
          <a:noFill/>
          <a:ln/>
        </p:spPr>
        <p:txBody>
          <a:bodyPr wrap="square" rtlCol="0" anchor="ctr"/>
          <a:lstStyle/>
          <a:p>
            <a:pPr marL="0" indent="0">
              <a:buNone/>
            </a:pPr>
            <a:r>
              <a:rPr lang="en-US" sz="1300" dirty="0">
                <a:solidFill>
                  <a:srgbClr val="1A2332"/>
                </a:solidFill>
                <a:latin typeface="Arial" pitchFamily="34" charset="0"/>
                <a:ea typeface="Arial" pitchFamily="34" charset="-122"/>
                <a:cs typeface="Arial" pitchFamily="34" charset="-120"/>
              </a:rPr>
              <a:t>I will use technology responsibly and ethically.</a:t>
            </a:r>
            <a:endParaRPr lang="en-US" sz="1300" dirty="0"/>
          </a:p>
        </p:txBody>
      </p:sp>
      <p:sp>
        <p:nvSpPr>
          <p:cNvPr id="22" name="Shape 14"/>
          <p:cNvSpPr/>
          <p:nvPr/>
        </p:nvSpPr>
        <p:spPr>
          <a:xfrm>
            <a:off x="365760" y="3794760"/>
            <a:ext cx="4114800" cy="822960"/>
          </a:xfrm>
          <a:prstGeom prst="roundRect">
            <a:avLst>
              <a:gd name="adj" fmla="val 8889"/>
            </a:avLst>
          </a:prstGeom>
          <a:solidFill>
            <a:srgbClr val="FFFFFF"/>
          </a:solidFill>
          <a:ln/>
          <a:effectLst>
            <a:outerShdw blurRad="101600" dist="25400" dir="8100000" algn="bl" rotWithShape="0">
              <a:srgbClr val="000000">
                <a:alpha val="10000"/>
              </a:srgbClr>
            </a:outerShdw>
          </a:effectLst>
        </p:spPr>
      </p:sp>
      <p:pic>
        <p:nvPicPr>
          <p:cNvPr id="23" name="Image 6" descr="preencoded.png"/>
          <p:cNvPicPr>
            <a:picLocks noChangeAspect="1"/>
          </p:cNvPicPr>
          <p:nvPr/>
        </p:nvPicPr>
        <p:blipFill>
          <a:blip r:embed="rId9"/>
          <a:stretch>
            <a:fillRect/>
          </a:stretch>
        </p:blipFill>
        <p:spPr>
          <a:xfrm>
            <a:off x="548640" y="4023360"/>
            <a:ext cx="365760" cy="365760"/>
          </a:xfrm>
          <a:prstGeom prst="rect">
            <a:avLst/>
          </a:prstGeom>
        </p:spPr>
      </p:pic>
      <p:sp>
        <p:nvSpPr>
          <p:cNvPr id="24" name="Text 15"/>
          <p:cNvSpPr/>
          <p:nvPr/>
        </p:nvSpPr>
        <p:spPr>
          <a:xfrm>
            <a:off x="1051560" y="3977640"/>
            <a:ext cx="3200400" cy="457200"/>
          </a:xfrm>
          <a:prstGeom prst="rect">
            <a:avLst/>
          </a:prstGeom>
          <a:noFill/>
          <a:ln/>
        </p:spPr>
        <p:txBody>
          <a:bodyPr wrap="square" rtlCol="0" anchor="ctr"/>
          <a:lstStyle/>
          <a:p>
            <a:pPr marL="0" indent="0">
              <a:buNone/>
            </a:pPr>
            <a:r>
              <a:rPr lang="en-US" sz="1300" dirty="0">
                <a:solidFill>
                  <a:srgbClr val="1A2332"/>
                </a:solidFill>
                <a:latin typeface="Arial" pitchFamily="34" charset="0"/>
                <a:ea typeface="Arial" pitchFamily="34" charset="-122"/>
                <a:cs typeface="Arial" pitchFamily="34" charset="-120"/>
              </a:rPr>
              <a:t>I will look for opportunities to lift and help others.</a:t>
            </a:r>
            <a:endParaRPr lang="en-US" sz="1300" dirty="0"/>
          </a:p>
        </p:txBody>
      </p:sp>
      <p:sp>
        <p:nvSpPr>
          <p:cNvPr id="25" name="Shape 16"/>
          <p:cNvSpPr/>
          <p:nvPr/>
        </p:nvSpPr>
        <p:spPr>
          <a:xfrm>
            <a:off x="4754880" y="3794760"/>
            <a:ext cx="4114800" cy="822960"/>
          </a:xfrm>
          <a:prstGeom prst="roundRect">
            <a:avLst>
              <a:gd name="adj" fmla="val 8889"/>
            </a:avLst>
          </a:prstGeom>
          <a:solidFill>
            <a:srgbClr val="FFFFFF"/>
          </a:solidFill>
          <a:ln/>
          <a:effectLst>
            <a:outerShdw blurRad="101600" dist="25400" dir="8100000" algn="bl" rotWithShape="0">
              <a:srgbClr val="000000">
                <a:alpha val="10000"/>
              </a:srgbClr>
            </a:outerShdw>
          </a:effectLst>
        </p:spPr>
      </p:sp>
      <p:pic>
        <p:nvPicPr>
          <p:cNvPr id="26" name="Image 7" descr="preencoded.png"/>
          <p:cNvPicPr>
            <a:picLocks noChangeAspect="1"/>
          </p:cNvPicPr>
          <p:nvPr/>
        </p:nvPicPr>
        <p:blipFill>
          <a:blip r:embed="rId10"/>
          <a:stretch>
            <a:fillRect/>
          </a:stretch>
        </p:blipFill>
        <p:spPr>
          <a:xfrm>
            <a:off x="4937760" y="4023360"/>
            <a:ext cx="365760" cy="365760"/>
          </a:xfrm>
          <a:prstGeom prst="rect">
            <a:avLst/>
          </a:prstGeom>
        </p:spPr>
      </p:pic>
      <p:sp>
        <p:nvSpPr>
          <p:cNvPr id="27" name="Text 17"/>
          <p:cNvSpPr/>
          <p:nvPr/>
        </p:nvSpPr>
        <p:spPr>
          <a:xfrm>
            <a:off x="5440680" y="3977640"/>
            <a:ext cx="3200400" cy="457200"/>
          </a:xfrm>
          <a:prstGeom prst="rect">
            <a:avLst/>
          </a:prstGeom>
          <a:noFill/>
          <a:ln/>
        </p:spPr>
        <p:txBody>
          <a:bodyPr wrap="square" rtlCol="0" anchor="ctr"/>
          <a:lstStyle/>
          <a:p>
            <a:pPr marL="0" indent="0">
              <a:buNone/>
            </a:pPr>
            <a:r>
              <a:rPr lang="en-US" sz="1300" dirty="0">
                <a:solidFill>
                  <a:srgbClr val="1A2332"/>
                </a:solidFill>
                <a:latin typeface="Arial" pitchFamily="34" charset="0"/>
                <a:ea typeface="Arial" pitchFamily="34" charset="-122"/>
                <a:cs typeface="Arial" pitchFamily="34" charset="-120"/>
              </a:rPr>
              <a:t>Professional success will be another opportunity to practice discipleship.</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65D"/>
          </a:solidFill>
          <a:ln/>
        </p:spPr>
      </p:sp>
      <p:sp>
        <p:nvSpPr>
          <p:cNvPr id="3" name="Text 1"/>
          <p:cNvSpPr/>
          <p:nvPr/>
        </p:nvSpPr>
        <p:spPr>
          <a:xfrm>
            <a:off x="457200" y="137160"/>
            <a:ext cx="8229600" cy="3657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Portfolio Alignment and Evolution</a:t>
            </a:r>
            <a:endParaRPr lang="en-US" sz="2400" dirty="0"/>
          </a:p>
        </p:txBody>
      </p:sp>
      <p:sp>
        <p:nvSpPr>
          <p:cNvPr id="4" name="Shape 2"/>
          <p:cNvSpPr/>
          <p:nvPr/>
        </p:nvSpPr>
        <p:spPr>
          <a:xfrm>
            <a:off x="365760" y="1005840"/>
            <a:ext cx="2743200" cy="2926080"/>
          </a:xfrm>
          <a:prstGeom prst="roundRect">
            <a:avLst>
              <a:gd name="adj" fmla="val 3333"/>
            </a:avLst>
          </a:prstGeom>
          <a:solidFill>
            <a:srgbClr val="FFFFFF"/>
          </a:solidFill>
          <a:ln/>
          <a:effectLst>
            <a:outerShdw blurRad="101600" dist="25400" dir="8100000" algn="bl" rotWithShape="0">
              <a:srgbClr val="000000">
                <a:alpha val="10000"/>
              </a:srgbClr>
            </a:outerShdw>
          </a:effectLst>
        </p:spPr>
      </p:sp>
      <p:sp>
        <p:nvSpPr>
          <p:cNvPr id="5" name="Shape 3"/>
          <p:cNvSpPr/>
          <p:nvPr/>
        </p:nvSpPr>
        <p:spPr>
          <a:xfrm>
            <a:off x="365760" y="1005840"/>
            <a:ext cx="2743200" cy="502920"/>
          </a:xfrm>
          <a:prstGeom prst="rect">
            <a:avLst/>
          </a:prstGeom>
          <a:solidFill>
            <a:srgbClr val="6B7C93"/>
          </a:solidFill>
          <a:ln/>
        </p:spPr>
      </p:sp>
      <p:sp>
        <p:nvSpPr>
          <p:cNvPr id="6" name="Text 4"/>
          <p:cNvSpPr/>
          <p:nvPr/>
        </p:nvSpPr>
        <p:spPr>
          <a:xfrm>
            <a:off x="365760" y="1051560"/>
            <a:ext cx="2743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Initial Goal</a:t>
            </a:r>
            <a:endParaRPr lang="en-US" sz="1400" dirty="0"/>
          </a:p>
        </p:txBody>
      </p:sp>
      <p:sp>
        <p:nvSpPr>
          <p:cNvPr id="7" name="Text 5"/>
          <p:cNvSpPr/>
          <p:nvPr/>
        </p:nvSpPr>
        <p:spPr>
          <a:xfrm>
            <a:off x="548640" y="1737360"/>
            <a:ext cx="2377440" cy="1920240"/>
          </a:xfrm>
          <a:prstGeom prst="rect">
            <a:avLst/>
          </a:prstGeom>
          <a:noFill/>
          <a:ln/>
        </p:spPr>
        <p:txBody>
          <a:bodyPr wrap="square" rtlCol="0" anchor="ctr"/>
          <a:lstStyle/>
          <a:p>
            <a:pPr marL="0" indent="0" algn="ctr">
              <a:buNone/>
            </a:pPr>
            <a:r>
              <a:rPr lang="en-US" sz="1300" dirty="0">
                <a:solidFill>
                  <a:srgbClr val="1A2332"/>
                </a:solidFill>
                <a:latin typeface="Arial" pitchFamily="34" charset="0"/>
                <a:ea typeface="Arial" pitchFamily="34" charset="-122"/>
                <a:cs typeface="Arial" pitchFamily="34" charset="-120"/>
              </a:rPr>
              <a:t>Develop technical skills and prepare for a career in IT. Focus primarily on competence and career readiness.</a:t>
            </a:r>
            <a:endParaRPr lang="en-US" sz="1300" dirty="0"/>
          </a:p>
        </p:txBody>
      </p:sp>
      <p:sp>
        <p:nvSpPr>
          <p:cNvPr id="8" name="Shape 6"/>
          <p:cNvSpPr/>
          <p:nvPr/>
        </p:nvSpPr>
        <p:spPr>
          <a:xfrm>
            <a:off x="3246120" y="1005840"/>
            <a:ext cx="2743200" cy="2926080"/>
          </a:xfrm>
          <a:prstGeom prst="roundRect">
            <a:avLst>
              <a:gd name="adj" fmla="val 3333"/>
            </a:avLst>
          </a:prstGeom>
          <a:solidFill>
            <a:srgbClr val="FFFFFF"/>
          </a:solidFill>
          <a:ln/>
          <a:effectLst>
            <a:outerShdw blurRad="101600" dist="25400" dir="8100000" algn="bl" rotWithShape="0">
              <a:srgbClr val="000000">
                <a:alpha val="10000"/>
              </a:srgbClr>
            </a:outerShdw>
          </a:effectLst>
        </p:spPr>
      </p:sp>
      <p:sp>
        <p:nvSpPr>
          <p:cNvPr id="9" name="Shape 7"/>
          <p:cNvSpPr/>
          <p:nvPr/>
        </p:nvSpPr>
        <p:spPr>
          <a:xfrm>
            <a:off x="3246120" y="1005840"/>
            <a:ext cx="2743200" cy="502920"/>
          </a:xfrm>
          <a:prstGeom prst="rect">
            <a:avLst/>
          </a:prstGeom>
          <a:solidFill>
            <a:srgbClr val="2E5A88"/>
          </a:solidFill>
          <a:ln/>
        </p:spPr>
      </p:sp>
      <p:sp>
        <p:nvSpPr>
          <p:cNvPr id="10" name="Text 8"/>
          <p:cNvSpPr/>
          <p:nvPr/>
        </p:nvSpPr>
        <p:spPr>
          <a:xfrm>
            <a:off x="3246120" y="1051560"/>
            <a:ext cx="2743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What Changed</a:t>
            </a:r>
            <a:endParaRPr lang="en-US" sz="1400" dirty="0"/>
          </a:p>
        </p:txBody>
      </p:sp>
      <p:sp>
        <p:nvSpPr>
          <p:cNvPr id="11" name="Text 9"/>
          <p:cNvSpPr/>
          <p:nvPr/>
        </p:nvSpPr>
        <p:spPr>
          <a:xfrm>
            <a:off x="3429000" y="1737360"/>
            <a:ext cx="2377440" cy="1920240"/>
          </a:xfrm>
          <a:prstGeom prst="rect">
            <a:avLst/>
          </a:prstGeom>
          <a:noFill/>
          <a:ln/>
        </p:spPr>
        <p:txBody>
          <a:bodyPr wrap="square" rtlCol="0" anchor="ctr"/>
          <a:lstStyle/>
          <a:p>
            <a:pPr marL="0" indent="0" algn="ctr">
              <a:buNone/>
            </a:pPr>
            <a:r>
              <a:rPr lang="en-US" sz="1300" dirty="0">
                <a:solidFill>
                  <a:srgbClr val="1A2332"/>
                </a:solidFill>
                <a:latin typeface="Arial" pitchFamily="34" charset="0"/>
                <a:ea typeface="Arial" pitchFamily="34" charset="-122"/>
                <a:cs typeface="Arial" pitchFamily="34" charset="-120"/>
              </a:rPr>
              <a:t>I came to understand that technical competence alone is not enough. Professionals must also demonstrate integrity, communication, accountability, and service.</a:t>
            </a:r>
            <a:endParaRPr lang="en-US" sz="1300" dirty="0"/>
          </a:p>
        </p:txBody>
      </p:sp>
      <p:sp>
        <p:nvSpPr>
          <p:cNvPr id="12" name="Shape 10"/>
          <p:cNvSpPr/>
          <p:nvPr/>
        </p:nvSpPr>
        <p:spPr>
          <a:xfrm>
            <a:off x="6126480" y="1005840"/>
            <a:ext cx="2743200" cy="2926080"/>
          </a:xfrm>
          <a:prstGeom prst="roundRect">
            <a:avLst>
              <a:gd name="adj" fmla="val 3333"/>
            </a:avLst>
          </a:prstGeom>
          <a:solidFill>
            <a:srgbClr val="FFFFFF"/>
          </a:solidFill>
          <a:ln/>
          <a:effectLst>
            <a:outerShdw blurRad="101600" dist="25400" dir="8100000" algn="bl" rotWithShape="0">
              <a:srgbClr val="000000">
                <a:alpha val="10000"/>
              </a:srgbClr>
            </a:outerShdw>
          </a:effectLst>
        </p:spPr>
      </p:sp>
      <p:sp>
        <p:nvSpPr>
          <p:cNvPr id="13" name="Shape 11"/>
          <p:cNvSpPr/>
          <p:nvPr/>
        </p:nvSpPr>
        <p:spPr>
          <a:xfrm>
            <a:off x="6126480" y="1005840"/>
            <a:ext cx="2743200" cy="502920"/>
          </a:xfrm>
          <a:prstGeom prst="rect">
            <a:avLst/>
          </a:prstGeom>
          <a:solidFill>
            <a:srgbClr val="1B365D"/>
          </a:solidFill>
          <a:ln/>
        </p:spPr>
      </p:sp>
      <p:sp>
        <p:nvSpPr>
          <p:cNvPr id="14" name="Text 12"/>
          <p:cNvSpPr/>
          <p:nvPr/>
        </p:nvSpPr>
        <p:spPr>
          <a:xfrm>
            <a:off x="6126480" y="1051560"/>
            <a:ext cx="2743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Current Goal</a:t>
            </a:r>
            <a:endParaRPr lang="en-US" sz="1400" dirty="0"/>
          </a:p>
        </p:txBody>
      </p:sp>
      <p:sp>
        <p:nvSpPr>
          <p:cNvPr id="15" name="Text 13"/>
          <p:cNvSpPr/>
          <p:nvPr/>
        </p:nvSpPr>
        <p:spPr>
          <a:xfrm>
            <a:off x="6309360" y="1737360"/>
            <a:ext cx="2377440" cy="1920240"/>
          </a:xfrm>
          <a:prstGeom prst="rect">
            <a:avLst/>
          </a:prstGeom>
          <a:noFill/>
          <a:ln/>
        </p:spPr>
        <p:txBody>
          <a:bodyPr wrap="square" rtlCol="0" anchor="ctr"/>
          <a:lstStyle/>
          <a:p>
            <a:pPr marL="0" indent="0" algn="ctr">
              <a:buNone/>
            </a:pPr>
            <a:r>
              <a:rPr lang="en-US" sz="1300" dirty="0">
                <a:solidFill>
                  <a:srgbClr val="1A2332"/>
                </a:solidFill>
                <a:latin typeface="Arial" pitchFamily="34" charset="0"/>
                <a:ea typeface="Arial" pitchFamily="34" charset="-122"/>
                <a:cs typeface="Arial" pitchFamily="34" charset="-120"/>
              </a:rPr>
              <a:t>Become a technically capable and trustworthy professional who uses technology ethically to solve real-world problems and serve others as a disciple of Jesus Christ.</a:t>
            </a:r>
            <a:endParaRPr lang="en-US" sz="1300" dirty="0"/>
          </a:p>
        </p:txBody>
      </p:sp>
      <p:sp>
        <p:nvSpPr>
          <p:cNvPr id="16" name="Text 14"/>
          <p:cNvSpPr/>
          <p:nvPr/>
        </p:nvSpPr>
        <p:spPr>
          <a:xfrm>
            <a:off x="457200" y="4206240"/>
            <a:ext cx="8229600" cy="457200"/>
          </a:xfrm>
          <a:prstGeom prst="rect">
            <a:avLst/>
          </a:prstGeom>
          <a:noFill/>
          <a:ln/>
        </p:spPr>
        <p:txBody>
          <a:bodyPr wrap="square" rtlCol="0" anchor="ctr"/>
          <a:lstStyle/>
          <a:p>
            <a:pPr marL="0" indent="0" algn="ctr">
              <a:buNone/>
            </a:pPr>
            <a:r>
              <a:rPr lang="en-US" sz="1300" i="1" dirty="0">
                <a:solidFill>
                  <a:srgbClr val="1B365D"/>
                </a:solidFill>
                <a:latin typeface="Georgia" pitchFamily="34" charset="0"/>
                <a:ea typeface="Georgia" pitchFamily="34" charset="-122"/>
                <a:cs typeface="Georgia" pitchFamily="34" charset="-120"/>
              </a:rPr>
              <a:t>My goals evolved from skill-focused to purpose-focused, integrating faith, character, and professional excellence.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65D"/>
          </a:solidFill>
          <a:ln/>
        </p:spPr>
      </p:sp>
      <p:sp>
        <p:nvSpPr>
          <p:cNvPr id="3" name="Text 1"/>
          <p:cNvSpPr/>
          <p:nvPr/>
        </p:nvSpPr>
        <p:spPr>
          <a:xfrm>
            <a:off x="457200" y="137160"/>
            <a:ext cx="8229600" cy="3657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Final Reflection</a:t>
            </a:r>
            <a:endParaRPr lang="en-US" sz="2400" dirty="0"/>
          </a:p>
        </p:txBody>
      </p:sp>
      <p:sp>
        <p:nvSpPr>
          <p:cNvPr id="4" name="Shape 2"/>
          <p:cNvSpPr/>
          <p:nvPr/>
        </p:nvSpPr>
        <p:spPr>
          <a:xfrm>
            <a:off x="365760" y="914400"/>
            <a:ext cx="8412480" cy="1143000"/>
          </a:xfrm>
          <a:prstGeom prst="roundRect">
            <a:avLst>
              <a:gd name="adj" fmla="val 6400"/>
            </a:avLst>
          </a:prstGeom>
          <a:solidFill>
            <a:srgbClr val="FFFFFF"/>
          </a:solidFill>
          <a:ln/>
          <a:effectLst>
            <a:outerShdw blurRad="101600" dist="25400" dir="8100000" algn="bl" rotWithShape="0">
              <a:srgbClr val="000000">
                <a:alpha val="10000"/>
              </a:srgbClr>
            </a:outerShdw>
          </a:effectLst>
        </p:spPr>
      </p:sp>
      <p:sp>
        <p:nvSpPr>
          <p:cNvPr id="5" name="Shape 3"/>
          <p:cNvSpPr/>
          <p:nvPr/>
        </p:nvSpPr>
        <p:spPr>
          <a:xfrm>
            <a:off x="365760" y="914400"/>
            <a:ext cx="109728" cy="1143000"/>
          </a:xfrm>
          <a:prstGeom prst="rect">
            <a:avLst/>
          </a:prstGeom>
          <a:solidFill>
            <a:srgbClr val="C9A227"/>
          </a:solidFill>
          <a:ln/>
        </p:spPr>
      </p:sp>
      <p:sp>
        <p:nvSpPr>
          <p:cNvPr id="6" name="Text 4"/>
          <p:cNvSpPr/>
          <p:nvPr/>
        </p:nvSpPr>
        <p:spPr>
          <a:xfrm>
            <a:off x="685800" y="1051560"/>
            <a:ext cx="7863840" cy="274320"/>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What did I learn?</a:t>
            </a:r>
            <a:endParaRPr lang="en-US" sz="1400" dirty="0"/>
          </a:p>
        </p:txBody>
      </p:sp>
      <p:sp>
        <p:nvSpPr>
          <p:cNvPr id="7" name="Text 5"/>
          <p:cNvSpPr/>
          <p:nvPr/>
        </p:nvSpPr>
        <p:spPr>
          <a:xfrm>
            <a:off x="685800" y="1371600"/>
            <a:ext cx="7863840" cy="548640"/>
          </a:xfrm>
          <a:prstGeom prst="rect">
            <a:avLst/>
          </a:prstGeom>
          <a:noFill/>
          <a:ln/>
        </p:spPr>
        <p:txBody>
          <a:bodyPr wrap="square" rtlCol="0" anchor="ctr"/>
          <a:lstStyle/>
          <a:p>
            <a:pPr marL="0" indent="0">
              <a:buNone/>
            </a:pPr>
            <a:r>
              <a:rPr lang="en-US" sz="1300" dirty="0">
                <a:solidFill>
                  <a:srgbClr val="1A2332"/>
                </a:solidFill>
                <a:latin typeface="Arial" pitchFamily="34" charset="0"/>
                <a:ea typeface="Arial" pitchFamily="34" charset="-122"/>
                <a:cs typeface="Arial" pitchFamily="34" charset="-120"/>
              </a:rPr>
              <a:t>I learned that spiritual and professional development can reinforce each other. Faith strengthens character; character strengthens professional practice; practice creates opportunities to serve.</a:t>
            </a:r>
            <a:endParaRPr lang="en-US" sz="1300" dirty="0"/>
          </a:p>
        </p:txBody>
      </p:sp>
      <p:sp>
        <p:nvSpPr>
          <p:cNvPr id="8" name="Shape 6"/>
          <p:cNvSpPr/>
          <p:nvPr/>
        </p:nvSpPr>
        <p:spPr>
          <a:xfrm>
            <a:off x="365760" y="2194560"/>
            <a:ext cx="8412480" cy="1143000"/>
          </a:xfrm>
          <a:prstGeom prst="roundRect">
            <a:avLst>
              <a:gd name="adj" fmla="val 6400"/>
            </a:avLst>
          </a:prstGeom>
          <a:solidFill>
            <a:srgbClr val="FFFFFF"/>
          </a:solidFill>
          <a:ln/>
          <a:effectLst>
            <a:outerShdw blurRad="101600" dist="25400" dir="8100000" algn="bl" rotWithShape="0">
              <a:srgbClr val="000000">
                <a:alpha val="10000"/>
              </a:srgbClr>
            </a:outerShdw>
          </a:effectLst>
        </p:spPr>
      </p:sp>
      <p:sp>
        <p:nvSpPr>
          <p:cNvPr id="9" name="Shape 7"/>
          <p:cNvSpPr/>
          <p:nvPr/>
        </p:nvSpPr>
        <p:spPr>
          <a:xfrm>
            <a:off x="365760" y="2194560"/>
            <a:ext cx="109728" cy="1143000"/>
          </a:xfrm>
          <a:prstGeom prst="rect">
            <a:avLst/>
          </a:prstGeom>
          <a:solidFill>
            <a:srgbClr val="C9A227"/>
          </a:solidFill>
          <a:ln/>
        </p:spPr>
      </p:sp>
      <p:sp>
        <p:nvSpPr>
          <p:cNvPr id="10" name="Text 8"/>
          <p:cNvSpPr/>
          <p:nvPr/>
        </p:nvSpPr>
        <p:spPr>
          <a:xfrm>
            <a:off x="685800" y="2331720"/>
            <a:ext cx="7863840" cy="274320"/>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Who am I becoming?</a:t>
            </a:r>
            <a:endParaRPr lang="en-US" sz="1400" dirty="0"/>
          </a:p>
        </p:txBody>
      </p:sp>
      <p:sp>
        <p:nvSpPr>
          <p:cNvPr id="11" name="Text 9"/>
          <p:cNvSpPr/>
          <p:nvPr/>
        </p:nvSpPr>
        <p:spPr>
          <a:xfrm>
            <a:off x="685800" y="2651760"/>
            <a:ext cx="7863840" cy="548640"/>
          </a:xfrm>
          <a:prstGeom prst="rect">
            <a:avLst/>
          </a:prstGeom>
          <a:noFill/>
          <a:ln/>
        </p:spPr>
        <p:txBody>
          <a:bodyPr wrap="square" rtlCol="0" anchor="ctr"/>
          <a:lstStyle/>
          <a:p>
            <a:pPr marL="0" indent="0">
              <a:buNone/>
            </a:pPr>
            <a:r>
              <a:rPr lang="en-US" sz="1300" dirty="0">
                <a:solidFill>
                  <a:srgbClr val="1A2332"/>
                </a:solidFill>
                <a:latin typeface="Arial" pitchFamily="34" charset="0"/>
                <a:ea typeface="Arial" pitchFamily="34" charset="-122"/>
                <a:cs typeface="Arial" pitchFamily="34" charset="-120"/>
              </a:rPr>
              <a:t>I am becoming a more accountable, capable, reflective, and service-oriented learner and professional — someone who seeks to integrate discipleship with technical excellence.</a:t>
            </a:r>
            <a:endParaRPr lang="en-US" sz="1300" dirty="0"/>
          </a:p>
        </p:txBody>
      </p:sp>
      <p:sp>
        <p:nvSpPr>
          <p:cNvPr id="12" name="Shape 10"/>
          <p:cNvSpPr/>
          <p:nvPr/>
        </p:nvSpPr>
        <p:spPr>
          <a:xfrm>
            <a:off x="365760" y="3474720"/>
            <a:ext cx="8412480" cy="1143000"/>
          </a:xfrm>
          <a:prstGeom prst="roundRect">
            <a:avLst>
              <a:gd name="adj" fmla="val 6400"/>
            </a:avLst>
          </a:prstGeom>
          <a:solidFill>
            <a:srgbClr val="FFFFFF"/>
          </a:solidFill>
          <a:ln/>
          <a:effectLst>
            <a:outerShdw blurRad="101600" dist="25400" dir="8100000" algn="bl" rotWithShape="0">
              <a:srgbClr val="000000">
                <a:alpha val="10000"/>
              </a:srgbClr>
            </a:outerShdw>
          </a:effectLst>
        </p:spPr>
      </p:sp>
      <p:sp>
        <p:nvSpPr>
          <p:cNvPr id="13" name="Shape 11"/>
          <p:cNvSpPr/>
          <p:nvPr/>
        </p:nvSpPr>
        <p:spPr>
          <a:xfrm>
            <a:off x="365760" y="3474720"/>
            <a:ext cx="109728" cy="1143000"/>
          </a:xfrm>
          <a:prstGeom prst="rect">
            <a:avLst/>
          </a:prstGeom>
          <a:solidFill>
            <a:srgbClr val="C9A227"/>
          </a:solidFill>
          <a:ln/>
        </p:spPr>
      </p:sp>
      <p:sp>
        <p:nvSpPr>
          <p:cNvPr id="14" name="Text 12"/>
          <p:cNvSpPr/>
          <p:nvPr/>
        </p:nvSpPr>
        <p:spPr>
          <a:xfrm>
            <a:off x="685800" y="3611880"/>
            <a:ext cx="7863840" cy="274320"/>
          </a:xfrm>
          <a:prstGeom prst="rect">
            <a:avLst/>
          </a:prstGeom>
          <a:noFill/>
          <a:ln/>
        </p:spPr>
        <p:txBody>
          <a:bodyPr wrap="square" lIns="0" tIns="0" rIns="0" bIns="0" rtlCol="0" anchor="ctr"/>
          <a:lstStyle/>
          <a:p>
            <a:pPr marL="0" indent="0">
              <a:buNone/>
            </a:pPr>
            <a:r>
              <a:rPr lang="en-US" sz="1400" b="1" dirty="0">
                <a:solidFill>
                  <a:srgbClr val="1B365D"/>
                </a:solidFill>
                <a:latin typeface="Arial" pitchFamily="34" charset="0"/>
                <a:ea typeface="Arial" pitchFamily="34" charset="-122"/>
                <a:cs typeface="Arial" pitchFamily="34" charset="-120"/>
              </a:rPr>
              <a:t>Where am I going?</a:t>
            </a:r>
            <a:endParaRPr lang="en-US" sz="1400" dirty="0"/>
          </a:p>
        </p:txBody>
      </p:sp>
      <p:sp>
        <p:nvSpPr>
          <p:cNvPr id="15" name="Text 13"/>
          <p:cNvSpPr/>
          <p:nvPr/>
        </p:nvSpPr>
        <p:spPr>
          <a:xfrm>
            <a:off x="685800" y="3931920"/>
            <a:ext cx="7863840" cy="548640"/>
          </a:xfrm>
          <a:prstGeom prst="rect">
            <a:avLst/>
          </a:prstGeom>
          <a:noFill/>
          <a:ln/>
        </p:spPr>
        <p:txBody>
          <a:bodyPr wrap="square" rtlCol="0" anchor="ctr"/>
          <a:lstStyle/>
          <a:p>
            <a:pPr marL="0" indent="0">
              <a:buNone/>
            </a:pPr>
            <a:r>
              <a:rPr lang="en-US" sz="1300" dirty="0">
                <a:solidFill>
                  <a:srgbClr val="1A2332"/>
                </a:solidFill>
                <a:latin typeface="Arial" pitchFamily="34" charset="0"/>
                <a:ea typeface="Arial" pitchFamily="34" charset="-122"/>
                <a:cs typeface="Arial" pitchFamily="34" charset="-120"/>
              </a:rPr>
              <a:t>I will continue developing spiritually, academically, technically, and professionally while seeking opportunities to use my abilities to serve others and protect the information and systems entrusted to me.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440"/>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227"/>
          </a:solidFill>
          <a:ln/>
        </p:spPr>
      </p:sp>
      <p:sp>
        <p:nvSpPr>
          <p:cNvPr id="3" name="Text 1"/>
          <p:cNvSpPr/>
          <p:nvPr/>
        </p:nvSpPr>
        <p:spPr>
          <a:xfrm>
            <a:off x="457200" y="457200"/>
            <a:ext cx="8229600" cy="365760"/>
          </a:xfrm>
          <a:prstGeom prst="rect">
            <a:avLst/>
          </a:prstGeom>
          <a:noFill/>
          <a:ln/>
        </p:spPr>
        <p:txBody>
          <a:bodyPr wrap="square" lIns="0" tIns="0" rIns="0" bIns="0" rtlCol="0" anchor="ctr"/>
          <a:lstStyle/>
          <a:p>
            <a:pPr marL="0" indent="0" algn="ctr">
              <a:buNone/>
            </a:pPr>
            <a:r>
              <a:rPr lang="en-US" sz="1600" dirty="0">
                <a:solidFill>
                  <a:srgbClr val="C9A227"/>
                </a:solidFill>
                <a:latin typeface="Arial" pitchFamily="34" charset="0"/>
                <a:ea typeface="Arial" pitchFamily="34" charset="-122"/>
                <a:cs typeface="Arial" pitchFamily="34" charset="-120"/>
              </a:rPr>
              <a:t>Conclusion</a:t>
            </a:r>
            <a:endParaRPr lang="en-US" sz="1600" dirty="0"/>
          </a:p>
        </p:txBody>
      </p:sp>
      <p:sp>
        <p:nvSpPr>
          <p:cNvPr id="4" name="Text 2"/>
          <p:cNvSpPr/>
          <p:nvPr/>
        </p:nvSpPr>
        <p:spPr>
          <a:xfrm>
            <a:off x="731520" y="1097280"/>
            <a:ext cx="7680960" cy="914400"/>
          </a:xfrm>
          <a:prstGeom prst="rect">
            <a:avLst/>
          </a:prstGeom>
          <a:noFill/>
          <a:ln/>
        </p:spPr>
        <p:txBody>
          <a:bodyPr wrap="square" rtlCol="0" anchor="ctr"/>
          <a:lstStyle/>
          <a:p>
            <a:pPr marL="0" indent="0" algn="ctr">
              <a:buNone/>
            </a:pPr>
            <a:r>
              <a:rPr lang="en-US" sz="2200" i="1" dirty="0">
                <a:solidFill>
                  <a:srgbClr val="FFFFFF"/>
                </a:solidFill>
                <a:latin typeface="Georgia" pitchFamily="34" charset="0"/>
                <a:ea typeface="Georgia" pitchFamily="34" charset="-122"/>
                <a:cs typeface="Georgia" pitchFamily="34" charset="-120"/>
              </a:rPr>
              <a:t>My education is more than preparation for a career.</a:t>
            </a:r>
            <a:endParaRPr lang="en-US" sz="2200" dirty="0"/>
          </a:p>
          <a:p>
            <a:pPr marL="0" indent="0" algn="ctr">
              <a:buNone/>
            </a:pPr>
            <a:r>
              <a:rPr lang="en-US" sz="2200" i="1" dirty="0">
                <a:solidFill>
                  <a:srgbClr val="FFFFFF"/>
                </a:solidFill>
                <a:latin typeface="Georgia" pitchFamily="34" charset="0"/>
                <a:ea typeface="Georgia" pitchFamily="34" charset="-122"/>
                <a:cs typeface="Georgia" pitchFamily="34" charset="-120"/>
              </a:rPr>
              <a:t>It is preparation for service.</a:t>
            </a:r>
            <a:endParaRPr lang="en-US" sz="2200" dirty="0"/>
          </a:p>
        </p:txBody>
      </p:sp>
      <p:sp>
        <p:nvSpPr>
          <p:cNvPr id="5" name="Shape 3"/>
          <p:cNvSpPr/>
          <p:nvPr/>
        </p:nvSpPr>
        <p:spPr>
          <a:xfrm>
            <a:off x="3200400" y="2194560"/>
            <a:ext cx="2743200" cy="18288"/>
          </a:xfrm>
          <a:prstGeom prst="rect">
            <a:avLst/>
          </a:prstGeom>
          <a:solidFill>
            <a:srgbClr val="C9A227"/>
          </a:solidFill>
          <a:ln/>
        </p:spPr>
      </p:sp>
      <p:sp>
        <p:nvSpPr>
          <p:cNvPr id="6" name="Text 4"/>
          <p:cNvSpPr/>
          <p:nvPr/>
        </p:nvSpPr>
        <p:spPr>
          <a:xfrm>
            <a:off x="731520" y="2468880"/>
            <a:ext cx="7680960" cy="1371600"/>
          </a:xfrm>
          <a:prstGeom prst="rect">
            <a:avLst/>
          </a:prstGeom>
          <a:noFill/>
          <a:ln/>
        </p:spPr>
        <p:txBody>
          <a:bodyPr wrap="square" rtlCol="0" anchor="ctr"/>
          <a:lstStyle/>
          <a:p>
            <a:pPr marL="0" indent="0" algn="ctr">
              <a:buNone/>
            </a:pPr>
            <a:r>
              <a:rPr lang="en-US" sz="1400" dirty="0">
                <a:solidFill>
                  <a:srgbClr val="E8EEF4"/>
                </a:solidFill>
                <a:latin typeface="Arial" pitchFamily="34" charset="0"/>
                <a:ea typeface="Arial" pitchFamily="34" charset="-122"/>
                <a:cs typeface="Arial" pitchFamily="34" charset="-120"/>
              </a:rPr>
              <a:t>As I continue developing my technical abilities, I also want to develop the character, integrity, faith, and humility necessary to use those abilities responsibly. My goal is not simply to become successful in my profession, but to become a capable and trusted disciple of Jesus Christ who uses knowledge and skills to bless others.</a:t>
            </a:r>
            <a:endParaRPr lang="en-US" sz="1400" dirty="0"/>
          </a:p>
        </p:txBody>
      </p:sp>
      <p:sp>
        <p:nvSpPr>
          <p:cNvPr id="7" name="Shape 5"/>
          <p:cNvSpPr/>
          <p:nvPr/>
        </p:nvSpPr>
        <p:spPr>
          <a:xfrm>
            <a:off x="1371600" y="4023360"/>
            <a:ext cx="6400800" cy="731520"/>
          </a:xfrm>
          <a:prstGeom prst="roundRect">
            <a:avLst>
              <a:gd name="adj" fmla="val 10000"/>
            </a:avLst>
          </a:prstGeom>
          <a:solidFill>
            <a:srgbClr val="1B365D"/>
          </a:solidFill>
          <a:ln/>
        </p:spPr>
      </p:sp>
      <p:sp>
        <p:nvSpPr>
          <p:cNvPr id="8" name="Text 6"/>
          <p:cNvSpPr/>
          <p:nvPr/>
        </p:nvSpPr>
        <p:spPr>
          <a:xfrm>
            <a:off x="1554480" y="4160520"/>
            <a:ext cx="6035040" cy="457200"/>
          </a:xfrm>
          <a:prstGeom prst="rect">
            <a:avLst/>
          </a:prstGeom>
          <a:noFill/>
          <a:ln/>
        </p:spPr>
        <p:txBody>
          <a:bodyPr wrap="square" rtlCol="0" anchor="ctr"/>
          <a:lstStyle/>
          <a:p>
            <a:pPr marL="0" indent="0" algn="ctr">
              <a:buNone/>
            </a:pPr>
            <a:r>
              <a:rPr lang="en-US" sz="1400" i="1" dirty="0">
                <a:solidFill>
                  <a:srgbClr val="C9A227"/>
                </a:solidFill>
                <a:latin typeface="Georgia" pitchFamily="34" charset="0"/>
                <a:ea typeface="Georgia" pitchFamily="34" charset="-122"/>
                <a:cs typeface="Georgia" pitchFamily="34" charset="-120"/>
              </a:rPr>
              <a:t>“If any of you lack wisdom, let him ask of God.” ; James 1:5</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65D"/>
          </a:solidFill>
          <a:ln/>
        </p:spPr>
      </p:sp>
      <p:sp>
        <p:nvSpPr>
          <p:cNvPr id="3" name="Text 1"/>
          <p:cNvSpPr/>
          <p:nvPr/>
        </p:nvSpPr>
        <p:spPr>
          <a:xfrm>
            <a:off x="457200" y="137160"/>
            <a:ext cx="8229600" cy="36576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References</a:t>
            </a:r>
            <a:endParaRPr lang="en-US" sz="2400" dirty="0"/>
          </a:p>
        </p:txBody>
      </p:sp>
      <p:sp>
        <p:nvSpPr>
          <p:cNvPr id="4" name="Text 2"/>
          <p:cNvSpPr/>
          <p:nvPr/>
        </p:nvSpPr>
        <p:spPr>
          <a:xfrm>
            <a:off x="457200" y="914400"/>
            <a:ext cx="8229600" cy="594360"/>
          </a:xfrm>
          <a:prstGeom prst="rect">
            <a:avLst/>
          </a:prstGeom>
          <a:noFill/>
          <a:ln/>
        </p:spPr>
        <p:txBody>
          <a:bodyPr wrap="square" rtlCol="0" anchor="ctr"/>
          <a:lstStyle/>
          <a:p>
            <a:pPr marL="0" indent="0">
              <a:buNone/>
            </a:pPr>
            <a:r>
              <a:rPr lang="en-US" sz="1200" dirty="0">
                <a:solidFill>
                  <a:srgbClr val="1A2332"/>
                </a:solidFill>
                <a:latin typeface="Arial" pitchFamily="34" charset="0"/>
                <a:ea typeface="Arial" pitchFamily="34" charset="-122"/>
                <a:cs typeface="Arial" pitchFamily="34" charset="-120"/>
              </a:rPr>
              <a:t>Bednar, D. A. (2018). Gather together in one all things in Christ. The Church of Jesus Christ of Latter-day Saints. </a:t>
            </a:r>
            <a:r>
              <a:rPr lang="en-US" sz="1200" i="1" dirty="0">
                <a:solidFill>
                  <a:srgbClr val="1A2332"/>
                </a:solidFill>
                <a:latin typeface="Arial" pitchFamily="34" charset="0"/>
                <a:ea typeface="Arial" pitchFamily="34" charset="-122"/>
                <a:cs typeface="Arial" pitchFamily="34" charset="-120"/>
              </a:rPr>
              <a:t>https://www.churchofjesuschrist.org/study/general-conference/2018/10/gather-together-in-one-all-things-in-christ</a:t>
            </a:r>
            <a:endParaRPr lang="en-US" sz="1200" i="1" dirty="0"/>
          </a:p>
        </p:txBody>
      </p:sp>
      <p:sp>
        <p:nvSpPr>
          <p:cNvPr id="5" name="Text 3"/>
          <p:cNvSpPr/>
          <p:nvPr/>
        </p:nvSpPr>
        <p:spPr>
          <a:xfrm>
            <a:off x="457200" y="1600200"/>
            <a:ext cx="8229600" cy="594360"/>
          </a:xfrm>
          <a:prstGeom prst="rect">
            <a:avLst/>
          </a:prstGeom>
          <a:noFill/>
          <a:ln/>
        </p:spPr>
        <p:txBody>
          <a:bodyPr wrap="square" rtlCol="0" anchor="ctr"/>
          <a:lstStyle/>
          <a:p>
            <a:pPr marL="0" indent="0">
              <a:buNone/>
            </a:pPr>
            <a:r>
              <a:rPr lang="en-US" sz="1200" dirty="0">
                <a:solidFill>
                  <a:srgbClr val="1A2332"/>
                </a:solidFill>
                <a:latin typeface="Arial" pitchFamily="34" charset="0"/>
                <a:ea typeface="Arial" pitchFamily="34" charset="-122"/>
                <a:cs typeface="Arial" pitchFamily="34" charset="-120"/>
              </a:rPr>
              <a:t>Hurley, C. (2024). Climbing your own Mount Sinai: The rewards of faith and effort. Ensign College. </a:t>
            </a:r>
            <a:r>
              <a:rPr lang="en-US" sz="1200" i="1" dirty="0">
                <a:solidFill>
                  <a:srgbClr val="1A2332"/>
                </a:solidFill>
                <a:latin typeface="Arial" pitchFamily="34" charset="0"/>
                <a:ea typeface="Arial" pitchFamily="34" charset="-122"/>
                <a:cs typeface="Arial" pitchFamily="34" charset="-120"/>
              </a:rPr>
              <a:t>https://www.ensign.edu/devotional/casey-hurley-02-2024</a:t>
            </a:r>
            <a:endParaRPr lang="en-US" sz="1200" i="1" dirty="0"/>
          </a:p>
        </p:txBody>
      </p:sp>
      <p:sp>
        <p:nvSpPr>
          <p:cNvPr id="6" name="Text 4"/>
          <p:cNvSpPr/>
          <p:nvPr/>
        </p:nvSpPr>
        <p:spPr>
          <a:xfrm>
            <a:off x="457200" y="2286000"/>
            <a:ext cx="8229600" cy="594360"/>
          </a:xfrm>
          <a:prstGeom prst="rect">
            <a:avLst/>
          </a:prstGeom>
          <a:noFill/>
          <a:ln/>
        </p:spPr>
        <p:txBody>
          <a:bodyPr wrap="square" rtlCol="0" anchor="ctr"/>
          <a:lstStyle/>
          <a:p>
            <a:pPr marL="0" indent="0">
              <a:buNone/>
            </a:pPr>
            <a:r>
              <a:rPr lang="en-US" sz="1200" dirty="0">
                <a:solidFill>
                  <a:srgbClr val="1A2332"/>
                </a:solidFill>
                <a:latin typeface="Arial" pitchFamily="34" charset="0"/>
                <a:ea typeface="Arial" pitchFamily="34" charset="-122"/>
                <a:cs typeface="Arial" pitchFamily="34" charset="-120"/>
              </a:rPr>
              <a:t>Morrison, I. K. (2024). Lessons from the unexpected path. Ensign College. </a:t>
            </a:r>
            <a:r>
              <a:rPr lang="en-US" sz="1200" i="1" dirty="0">
                <a:solidFill>
                  <a:srgbClr val="1A2332"/>
                </a:solidFill>
                <a:latin typeface="Arial" pitchFamily="34" charset="0"/>
                <a:ea typeface="Arial" pitchFamily="34" charset="-122"/>
                <a:cs typeface="Arial" pitchFamily="34" charset="-120"/>
              </a:rPr>
              <a:t>https://www.ensign.edu/devotional/elder-isaac-k-morrison-03-2024</a:t>
            </a:r>
            <a:endParaRPr lang="en-US" sz="1200" i="1" dirty="0"/>
          </a:p>
        </p:txBody>
      </p:sp>
      <p:sp>
        <p:nvSpPr>
          <p:cNvPr id="7" name="Text 5"/>
          <p:cNvSpPr/>
          <p:nvPr/>
        </p:nvSpPr>
        <p:spPr>
          <a:xfrm>
            <a:off x="457200" y="2971800"/>
            <a:ext cx="8229600" cy="594360"/>
          </a:xfrm>
          <a:prstGeom prst="rect">
            <a:avLst/>
          </a:prstGeom>
          <a:noFill/>
          <a:ln/>
        </p:spPr>
        <p:txBody>
          <a:bodyPr wrap="square" rtlCol="0" anchor="ctr"/>
          <a:lstStyle/>
          <a:p>
            <a:pPr marL="0" indent="0">
              <a:buNone/>
            </a:pPr>
            <a:r>
              <a:rPr lang="en-US" sz="1200" dirty="0">
                <a:solidFill>
                  <a:srgbClr val="1A2332"/>
                </a:solidFill>
                <a:latin typeface="Arial" pitchFamily="34" charset="0"/>
                <a:ea typeface="Arial" pitchFamily="34" charset="-122"/>
                <a:cs typeface="Arial" pitchFamily="34" charset="-120"/>
              </a:rPr>
              <a:t>Cocreate physically and be accountable. (n.d.). BYU-Idaho Leadership Toolkit. </a:t>
            </a:r>
            <a:r>
              <a:rPr lang="en-US" sz="1200" i="1" dirty="0">
                <a:solidFill>
                  <a:srgbClr val="1A2332"/>
                </a:solidFill>
                <a:latin typeface="Arial" pitchFamily="34" charset="0"/>
                <a:ea typeface="Arial" pitchFamily="34" charset="-122"/>
                <a:cs typeface="Arial" pitchFamily="34" charset="-120"/>
              </a:rPr>
              <a:t>https://books.byui.edu/leadership_toolkit/create_physically</a:t>
            </a:r>
            <a:endParaRPr lang="en-US" sz="1200" i="1" dirty="0"/>
          </a:p>
        </p:txBody>
      </p:sp>
      <p:sp>
        <p:nvSpPr>
          <p:cNvPr id="8" name="Text 6"/>
          <p:cNvSpPr/>
          <p:nvPr/>
        </p:nvSpPr>
        <p:spPr>
          <a:xfrm>
            <a:off x="457200" y="3657600"/>
            <a:ext cx="8229600" cy="594360"/>
          </a:xfrm>
          <a:prstGeom prst="rect">
            <a:avLst/>
          </a:prstGeom>
          <a:noFill/>
          <a:ln/>
        </p:spPr>
        <p:txBody>
          <a:bodyPr wrap="square" rtlCol="0" anchor="ctr"/>
          <a:lstStyle/>
          <a:p>
            <a:pPr marL="0" indent="0">
              <a:buNone/>
            </a:pPr>
            <a:r>
              <a:rPr lang="en-US" sz="1200" dirty="0">
                <a:solidFill>
                  <a:srgbClr val="1A2332"/>
                </a:solidFill>
                <a:latin typeface="Arial" pitchFamily="34" charset="0"/>
                <a:ea typeface="Arial" pitchFamily="34" charset="-122"/>
                <a:cs typeface="Arial" pitchFamily="34" charset="-120"/>
              </a:rPr>
              <a:t>The Holy Bible, King James Version. (n.d.). James 1:5.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1515</Words>
  <Application>Microsoft Office PowerPoint</Application>
  <PresentationFormat>On-screen Show (16:9)</PresentationFormat>
  <Paragraphs>200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Spiritual Progression &amp; Professional Growth Portfolio</dc:title>
  <dc:subject>IT497 Capstone - Week 6</dc:subject>
  <dc:creator>Mcsylvester Mbah</dc:creator>
  <cp:lastModifiedBy>Mbah</cp:lastModifiedBy>
  <cp:revision>2</cp:revision>
  <dcterms:created xsi:type="dcterms:W3CDTF">2026-08-03T12:41:35Z</dcterms:created>
  <dcterms:modified xsi:type="dcterms:W3CDTF">2026-08-03T13:06:16Z</dcterms:modified>
</cp:coreProperties>
</file>